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896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 my final capstone project presentation. Today I am presenting the DevOps Incident &amp; Task Tracker — a complete, production-grade DevSecOps platform built and deployed on AWS. We will explore the entire lifecycle: containerization, automated testing, container vulnerability scanning with Trivy, infrastructure as code using Terraform, GitOps delivery via ArgoCD, and comprehensive observability with Prometheus and Grafana.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outlines the problem statement and our core objectives. Often in software delivery, security is treated as an afterthought, and manual cluster deployments lead to configuration drift. In this capstone, we solved this by implementing an end-to-end automated platform that fulfills all 10 modules: from application development and Pytest test suites, to Docker containerization, a two-stage CI/CD pipeline, Trivy CVE security gating, Terraform on AWS, Helm deployment, ArgoCD GitOps, and Prometheus/Grafana observability.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complete architecture diagram split into three distinct, decoupled planes: First, the CI pipeline where code is tested, built, and scanned by Trivy before pushing to GHCR. Second, the GitOps plane where the CI pipeline updates image tags in values-prod.yaml using yq, allowing ArgoCD to continuously synchronize the state without exposing cluster credentials to CI. Third, the runtime plane on AWS EKS where the application runs with 2 replicas behind an NGINX Ingress Controller and AWS NLB, continuously scraped by Prometheus and displayed on Grafana.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provides a comprehensive inventory of our tech stack across all six architectural tiers. Notice our design choices: FastAPI with Pydantic for strict schema validation, multi-stage Docker builds ensuring minimal attack surface, Trivy scanning with zero toleration for unpatched HIGH/CRITICAL vulnerabilities, Terraform for 100% reproducible AWS infrastructure, Helm and ArgoCD for immutable GitOps delivery, and Prometheus Operator for cloud-native metrics collection.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breaks down our two-stage GitHub Actions CI/CD pipeline. In Stage 1, which runs on all PRs and pushes, we run our 10 Pytest cases and build our Vite frontend. If any test fails, the build halts immediately. In Stage 2, which triggers only on main, we build our container images for linux/amd64 tagged with the Git commit SHA. Notice our GitOps update step: instead of applying kubectl commands directly from CI, the pipeline updates values-prod.yaml using yq and pushes a commit with [skip ci]. This maintains clean Git history and preserves cluster isolation.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is module 6 in our rubric, and we implemented an active security gate using Trivy. In our initial CI runs, Trivy successfully caught three HIGH severity CVEs in Starlette regarding Denial of Service and SSRF. By investigating the dependency tree, we discovered a transitive pin conflict in our Prometheus instrumentator. We upgraded the instrumentator to version 8.1.0 and Starlette to 1.3.1, satisfying the security gate. This proves that our CI pipeline is not just running an advisory scan, but acting as a true compliance barrier.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Module 7, we provisioned our AWS infrastructure entirely through Terraform. We deployed into AWS Mumbai (ap-south-1) with a custom VPC in 10.20.0.0/16, split into public and private subnets with a NAT gateway. Our EKS cluster runs Kubernetes 1.31 on autoscaling t3.medium EC2 worker nodes. We followed cloud security best practices by strictly ignoring terraform.tfvars in Git and committing only a safe example file. Our terraform plan creates all required cloud resources cleanly, and terraform destroy provides complete teardown.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to Module 8: Kubernetes and Helm. Both of our Dockerfiles follow multi-stage patterns and run as non-root users (UID 10001 for Python, UID 101 for Nginx), fulfilling industry container hardening standards. We packaged our application into a modular Helm chart located in helm/taskboard. In production, we deploy 2 backend replicas and 2 frontend replicas behind an NGINX Ingress Controller connected to an AWS Network Load Balancer, routing /api requests to FastAPI and root requests to our React UI.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covers our GitOps delivery model using ArgoCD. Rather than having GitHub Actions reach into our Kubernetes cluster with admin credentials, we adopted the pull-based GitOps paradigm. When CI finishes scanning and publishing images, it simply updates values-prod.yaml with the new Git SHA. ArgoCD running in the cluster detects this change and initiates a rolling sync. Furthermore, with self-healing enabled, if someone manually tampers with cluster state, ArgoCD automatically reconciles it back to what is declared in Git.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Observability is Module 9. We instrumented FastAPI with native Prometheus metrics at /metrics and deployed kube-prometheus-stack. Using a ServiceMonitor Custom Resource, Prometheus automatically discovers and scrapes our backend pods, showing status UP on the Targets page. For Grafana, we avoided manual dashboard imports: we configured the Grafana sidecar to read a ConfigMap labeled grafana_dashboard: '1'. This auto-provisions four live panels: Request Rate, p95 Latency, 4xx/5xx errors, and Task counts, validated live using our load-test script.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highlights the key engineering challenges and lessons learned throughout this capstone. We resolved tricky dependency conflicts between Starlette and Prometheus Instrumentator, overcame GitHub Container Registry case-sensitivity pitfalls, and fine-tuned AWS NLB ingress routing. Crucially, this project proved the power of cloud-native principles: using immutable Git SHA tags instead of mutable :latest tags, shifting security left with Trivy, and eliminating cluster attack surfaces through declarative GitOps.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concludes the slide deck portion of our presentation. We will now proceed directly into the live walkthrough of the codebase, GitHub Actions CI/CD run, Terraform infrastructure plan, ArgoCD GitOps dashboard, Kubernetes cluster health, and live Prometheus/Grafana observability metrics.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1097280"/>
            <a:ext cx="9997135" cy="4663440"/>
          </a:xfrm>
          <a:prstGeom prst="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97280" y="1097280"/>
            <a:ext cx="9997135" cy="10972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45920" y="1645920"/>
            <a:ext cx="8869680" cy="3474720"/>
          </a:xfrm>
          <a:prstGeom prst="rect">
            <a:avLst/>
          </a:prstGeom>
          <a:noFill/>
        </p:spPr>
        <p:txBody>
          <a:bodyPr wrap="square">
            <a:spAutoFit/>
          </a:bodyPr>
          <a:lstStyle/>
          <a:p>
            <a:pPr>
              <a:spcAft>
                <a:spcPts val="1400"/>
              </a:spcAft>
              <a:defRPr sz="1400" b="1">
                <a:solidFill>
                  <a:srgbClr val="38BDF8"/>
                </a:solidFill>
              </a:defRPr>
            </a:pPr>
            <a:r>
              <a:rPr dirty="0"/>
              <a:t>DEVOPS CAPSTONE FINAL PRESENTATION</a:t>
            </a:r>
          </a:p>
          <a:p>
            <a:pPr>
              <a:spcAft>
                <a:spcPts val="1000"/>
              </a:spcAft>
              <a:defRPr sz="3600" b="1">
                <a:solidFill>
                  <a:srgbClr val="F8FAFC"/>
                </a:solidFill>
              </a:defRPr>
            </a:pPr>
            <a:r>
              <a:rPr dirty="0"/>
              <a:t>DevOps Incident &amp; Task Tracker</a:t>
            </a:r>
          </a:p>
          <a:p>
            <a:pPr>
              <a:spcAft>
                <a:spcPts val="2800"/>
              </a:spcAft>
              <a:defRPr sz="1800">
                <a:solidFill>
                  <a:srgbClr val="34D399"/>
                </a:solidFill>
              </a:defRPr>
            </a:pPr>
            <a:r>
              <a:rPr dirty="0"/>
              <a:t>Production </a:t>
            </a:r>
            <a:r>
              <a:rPr dirty="0" err="1"/>
              <a:t>DevSecOps</a:t>
            </a:r>
            <a:r>
              <a:rPr dirty="0"/>
              <a:t> Reference Architecture &amp; End-to-End Implementation</a:t>
            </a:r>
          </a:p>
          <a:p>
            <a:pPr>
              <a:spcAft>
                <a:spcPts val="2400"/>
              </a:spcAft>
              <a:defRPr sz="1300">
                <a:solidFill>
                  <a:srgbClr val="94A3B8"/>
                </a:solidFill>
              </a:defRPr>
            </a:pPr>
            <a:r>
              <a:rPr dirty="0"/>
              <a:t>AWS EKS  |  Terraform </a:t>
            </a:r>
            <a:r>
              <a:rPr dirty="0" err="1"/>
              <a:t>IaC</a:t>
            </a:r>
            <a:r>
              <a:rPr dirty="0"/>
              <a:t>  |  GitHub Actions CI/CD  |  </a:t>
            </a:r>
            <a:r>
              <a:rPr dirty="0" err="1"/>
              <a:t>Trivy</a:t>
            </a:r>
            <a:r>
              <a:rPr dirty="0"/>
              <a:t> Security Gate  |  </a:t>
            </a:r>
            <a:r>
              <a:rPr dirty="0" err="1"/>
              <a:t>ArgoCD</a:t>
            </a:r>
            <a:r>
              <a:rPr dirty="0"/>
              <a:t> </a:t>
            </a:r>
            <a:r>
              <a:rPr dirty="0" err="1"/>
              <a:t>GitOps</a:t>
            </a:r>
            <a:r>
              <a:rPr dirty="0"/>
              <a:t>  |  Prometheus &amp; Grafana</a:t>
            </a:r>
          </a:p>
          <a:p>
            <a:pPr>
              <a:defRPr sz="1200">
                <a:solidFill>
                  <a:srgbClr val="38BDF8"/>
                </a:solidFill>
              </a:defRPr>
            </a:pPr>
            <a:r>
              <a:rPr dirty="0"/>
              <a:t>Student Submission  •  Repository: https://github.com/BYT-Bender/devsecops-python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EXECUTIVE SUMMARY</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Project Overview &amp; Core Objectives</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Problem Statement &amp; Vision</a:t>
            </a:r>
          </a:p>
          <a:p>
            <a:pPr>
              <a:spcAft>
                <a:spcPts val="600"/>
              </a:spcAft>
            </a:pPr>
            <a:r>
              <a:rPr sz="1300" b="1">
                <a:solidFill>
                  <a:srgbClr val="F8FAFC"/>
                </a:solidFill>
              </a:rPr>
              <a:t>• Cloud-Native Complexity: </a:t>
            </a:r>
            <a:r>
              <a:rPr sz="1200" b="0">
                <a:solidFill>
                  <a:srgbClr val="94A3B8"/>
                </a:solidFill>
              </a:rPr>
              <a:t>Modern enterprise delivery requires high-velocity software releases without sacrificing security or infrastructure stability.</a:t>
            </a:r>
          </a:p>
          <a:p>
            <a:pPr>
              <a:spcAft>
                <a:spcPts val="600"/>
              </a:spcAft>
            </a:pPr>
            <a:r>
              <a:rPr sz="1300" b="1">
                <a:solidFill>
                  <a:srgbClr val="F8FAFC"/>
                </a:solidFill>
              </a:rPr>
              <a:t>• Security as an Afterthought: </a:t>
            </a:r>
            <a:r>
              <a:rPr sz="1200" b="0">
                <a:solidFill>
                  <a:srgbClr val="94A3B8"/>
                </a:solidFill>
              </a:rPr>
              <a:t>Vulnerabilities are often discovered in production rather than blocked proactively at the CI stage.</a:t>
            </a:r>
          </a:p>
          <a:p>
            <a:pPr>
              <a:spcAft>
                <a:spcPts val="600"/>
              </a:spcAft>
            </a:pPr>
            <a:r>
              <a:rPr sz="1300" b="1">
                <a:solidFill>
                  <a:srgbClr val="F8FAFC"/>
                </a:solidFill>
              </a:rPr>
              <a:t>• Configuration Drift: </a:t>
            </a:r>
            <a:r>
              <a:rPr sz="1200" b="0">
                <a:solidFill>
                  <a:srgbClr val="94A3B8"/>
                </a:solidFill>
              </a:rPr>
              <a:t>Direct manual deployments to clusters create state discrepancies and operational risk.</a:t>
            </a:r>
          </a:p>
          <a:p>
            <a:pPr>
              <a:spcAft>
                <a:spcPts val="600"/>
              </a:spcAft>
            </a:pPr>
            <a:r>
              <a:rPr sz="1300" b="1">
                <a:solidFill>
                  <a:srgbClr val="F8FAFC"/>
                </a:solidFill>
              </a:rPr>
              <a:t>• Our Solution: </a:t>
            </a:r>
            <a:r>
              <a:rPr sz="1200" b="0">
                <a:solidFill>
                  <a:srgbClr val="94A3B8"/>
                </a:solidFill>
              </a:rPr>
              <a:t>An enterprise reference DevSecOps pipeline enforcing shift-left vulnerability scanning, declarative GitOps, and real-time observability.</a:t>
            </a:r>
          </a:p>
        </p:txBody>
      </p:sp>
      <p:sp>
        <p:nvSpPr>
          <p:cNvPr id="6" name="Rectangle 5"/>
          <p:cNvSpPr/>
          <p:nvPr/>
        </p:nvSpPr>
        <p:spPr>
          <a:xfrm>
            <a:off x="731520" y="1645920"/>
            <a:ext cx="51206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rPr dirty="0"/>
              <a:t>Key Implementation Milestones</a:t>
            </a:r>
          </a:p>
          <a:p>
            <a:pPr>
              <a:spcAft>
                <a:spcPts val="600"/>
              </a:spcAft>
            </a:pPr>
            <a:r>
              <a:rPr sz="1300" b="1" dirty="0">
                <a:solidFill>
                  <a:srgbClr val="F8FAFC"/>
                </a:solidFill>
              </a:rPr>
              <a:t>• Full-Stack Microservice: </a:t>
            </a:r>
            <a:r>
              <a:rPr sz="1200" b="0" dirty="0" err="1">
                <a:solidFill>
                  <a:srgbClr val="94A3B8"/>
                </a:solidFill>
              </a:rPr>
              <a:t>FastAPI</a:t>
            </a:r>
            <a:r>
              <a:rPr sz="1200" b="0" dirty="0">
                <a:solidFill>
                  <a:srgbClr val="94A3B8"/>
                </a:solidFill>
              </a:rPr>
              <a:t> backend, PostgreSQL with Alembic migrations, and React 18 frontend.</a:t>
            </a:r>
          </a:p>
          <a:p>
            <a:pPr>
              <a:spcAft>
                <a:spcPts val="600"/>
              </a:spcAft>
            </a:pPr>
            <a:r>
              <a:rPr sz="1300" b="1" dirty="0">
                <a:solidFill>
                  <a:srgbClr val="F8FAFC"/>
                </a:solidFill>
              </a:rPr>
              <a:t>• Automated Quality Gates: </a:t>
            </a:r>
            <a:r>
              <a:rPr sz="1200" b="0" dirty="0" err="1">
                <a:solidFill>
                  <a:srgbClr val="94A3B8"/>
                </a:solidFill>
              </a:rPr>
              <a:t>Pytest</a:t>
            </a:r>
            <a:r>
              <a:rPr sz="1200" b="0" dirty="0">
                <a:solidFill>
                  <a:srgbClr val="94A3B8"/>
                </a:solidFill>
              </a:rPr>
              <a:t> suite (10 unit &amp; API tests) and non-root Docker builds running on </a:t>
            </a:r>
            <a:r>
              <a:rPr sz="1200" b="0" dirty="0" err="1">
                <a:solidFill>
                  <a:srgbClr val="94A3B8"/>
                </a:solidFill>
              </a:rPr>
              <a:t>linux</a:t>
            </a:r>
            <a:r>
              <a:rPr sz="1200" b="0" dirty="0">
                <a:solidFill>
                  <a:srgbClr val="94A3B8"/>
                </a:solidFill>
              </a:rPr>
              <a:t>/amd64.</a:t>
            </a:r>
          </a:p>
          <a:p>
            <a:pPr>
              <a:spcAft>
                <a:spcPts val="600"/>
              </a:spcAft>
            </a:pPr>
            <a:r>
              <a:rPr sz="1300" b="1" dirty="0">
                <a:solidFill>
                  <a:srgbClr val="F8FAFC"/>
                </a:solidFill>
              </a:rPr>
              <a:t>• </a:t>
            </a:r>
            <a:r>
              <a:rPr sz="1300" b="1" dirty="0" err="1">
                <a:solidFill>
                  <a:srgbClr val="F8FAFC"/>
                </a:solidFill>
              </a:rPr>
              <a:t>DevSecOps</a:t>
            </a:r>
            <a:r>
              <a:rPr sz="1300" b="1" dirty="0">
                <a:solidFill>
                  <a:srgbClr val="F8FAFC"/>
                </a:solidFill>
              </a:rPr>
              <a:t> Hard Gate: </a:t>
            </a:r>
            <a:r>
              <a:rPr sz="1200" b="0" dirty="0" err="1">
                <a:solidFill>
                  <a:srgbClr val="94A3B8"/>
                </a:solidFill>
              </a:rPr>
              <a:t>Trivy</a:t>
            </a:r>
            <a:r>
              <a:rPr sz="1200" b="0" dirty="0">
                <a:solidFill>
                  <a:srgbClr val="94A3B8"/>
                </a:solidFill>
              </a:rPr>
              <a:t> vulnerability scan halting pipelines on unpatched HIGH or CRITICAL CVEs.</a:t>
            </a:r>
          </a:p>
          <a:p>
            <a:pPr>
              <a:spcAft>
                <a:spcPts val="600"/>
              </a:spcAft>
            </a:pPr>
            <a:r>
              <a:rPr sz="1300" b="1" dirty="0">
                <a:solidFill>
                  <a:srgbClr val="F8FAFC"/>
                </a:solidFill>
              </a:rPr>
              <a:t>• Cloud Infrastructure (</a:t>
            </a:r>
            <a:r>
              <a:rPr sz="1300" b="1" dirty="0" err="1">
                <a:solidFill>
                  <a:srgbClr val="F8FAFC"/>
                </a:solidFill>
              </a:rPr>
              <a:t>IaC</a:t>
            </a:r>
            <a:r>
              <a:rPr sz="1300" b="1" dirty="0">
                <a:solidFill>
                  <a:srgbClr val="F8FAFC"/>
                </a:solidFill>
              </a:rPr>
              <a:t>): </a:t>
            </a:r>
            <a:r>
              <a:rPr sz="1200" b="0" dirty="0">
                <a:solidFill>
                  <a:srgbClr val="94A3B8"/>
                </a:solidFill>
              </a:rPr>
              <a:t>Automated provisioning of AWS VPC and EKS v1.31 in ap-south-1 via Terraform.</a:t>
            </a:r>
          </a:p>
          <a:p>
            <a:pPr>
              <a:spcAft>
                <a:spcPts val="600"/>
              </a:spcAft>
            </a:pPr>
            <a:r>
              <a:rPr sz="1300" b="1" dirty="0">
                <a:solidFill>
                  <a:srgbClr val="F8FAFC"/>
                </a:solidFill>
              </a:rPr>
              <a:t>• </a:t>
            </a:r>
            <a:r>
              <a:rPr sz="1300" b="1" dirty="0" err="1">
                <a:solidFill>
                  <a:srgbClr val="F8FAFC"/>
                </a:solidFill>
              </a:rPr>
              <a:t>GitOps</a:t>
            </a:r>
            <a:r>
              <a:rPr sz="1300" b="1" dirty="0">
                <a:solidFill>
                  <a:srgbClr val="F8FAFC"/>
                </a:solidFill>
              </a:rPr>
              <a:t> Delivery &amp; Observability: </a:t>
            </a:r>
            <a:r>
              <a:rPr sz="1200" b="0" dirty="0" err="1">
                <a:solidFill>
                  <a:srgbClr val="94A3B8"/>
                </a:solidFill>
              </a:rPr>
              <a:t>ArgoCD</a:t>
            </a:r>
            <a:r>
              <a:rPr sz="1200" b="0" dirty="0">
                <a:solidFill>
                  <a:srgbClr val="94A3B8"/>
                </a:solidFill>
              </a:rPr>
              <a:t> automated sync controller, Prometheus scraping, and live Grafana dashboards.</a:t>
            </a:r>
          </a:p>
        </p:txBody>
      </p:sp>
      <p:sp>
        <p:nvSpPr>
          <p:cNvPr id="8" name="Rectangle 7"/>
          <p:cNvSpPr/>
          <p:nvPr/>
        </p:nvSpPr>
        <p:spPr>
          <a:xfrm>
            <a:off x="6217919" y="1645920"/>
            <a:ext cx="5212079"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SYSTEM ARCHITECTURE</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End-to-End </a:t>
            </a:r>
            <a:r>
              <a:rPr dirty="0" err="1"/>
              <a:t>DevSecOps</a:t>
            </a:r>
            <a:r>
              <a:rPr dirty="0"/>
              <a:t> Architecture</a:t>
            </a:r>
          </a:p>
        </p:txBody>
      </p:sp>
      <p:sp>
        <p:nvSpPr>
          <p:cNvPr id="5" name="Rounded Rectangle 4"/>
          <p:cNvSpPr/>
          <p:nvPr/>
        </p:nvSpPr>
        <p:spPr>
          <a:xfrm>
            <a:off x="731520" y="1645920"/>
            <a:ext cx="32918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rPr dirty="0"/>
              <a:t>1. Continuous Integration</a:t>
            </a:r>
          </a:p>
          <a:p>
            <a:pPr>
              <a:spcAft>
                <a:spcPts val="600"/>
              </a:spcAft>
            </a:pPr>
            <a:r>
              <a:rPr lang="en-IN" sz="1300" b="1" dirty="0">
                <a:solidFill>
                  <a:srgbClr val="F8FAFC"/>
                </a:solidFill>
              </a:rPr>
              <a:t>• </a:t>
            </a:r>
            <a:r>
              <a:rPr sz="1300" b="1" dirty="0">
                <a:solidFill>
                  <a:srgbClr val="F8FAFC"/>
                </a:solidFill>
              </a:rPr>
              <a:t>Developer Action: </a:t>
            </a:r>
            <a:r>
              <a:rPr sz="1200" b="0" dirty="0">
                <a:solidFill>
                  <a:srgbClr val="94A3B8"/>
                </a:solidFill>
              </a:rPr>
              <a:t>Push / Pull Request to main branch</a:t>
            </a:r>
          </a:p>
          <a:p>
            <a:pPr>
              <a:spcAft>
                <a:spcPts val="600"/>
              </a:spcAft>
            </a:pPr>
            <a:r>
              <a:rPr sz="1300" b="1" dirty="0">
                <a:solidFill>
                  <a:srgbClr val="F8FAFC"/>
                </a:solidFill>
              </a:rPr>
              <a:t>• Stage 1 - Test: </a:t>
            </a:r>
            <a:r>
              <a:rPr sz="1200" b="0" dirty="0">
                <a:solidFill>
                  <a:srgbClr val="94A3B8"/>
                </a:solidFill>
              </a:rPr>
              <a:t>Python 3.12 + </a:t>
            </a:r>
            <a:r>
              <a:rPr sz="1200" b="0" dirty="0" err="1">
                <a:solidFill>
                  <a:srgbClr val="94A3B8"/>
                </a:solidFill>
              </a:rPr>
              <a:t>Pytest</a:t>
            </a:r>
            <a:r>
              <a:rPr sz="1200" b="0" dirty="0">
                <a:solidFill>
                  <a:srgbClr val="94A3B8"/>
                </a:solidFill>
              </a:rPr>
              <a:t> (10 tests)
Node 22 + React build</a:t>
            </a:r>
          </a:p>
          <a:p>
            <a:pPr>
              <a:spcAft>
                <a:spcPts val="600"/>
              </a:spcAft>
            </a:pPr>
            <a:r>
              <a:rPr sz="1300" b="1" dirty="0">
                <a:solidFill>
                  <a:srgbClr val="F8FAFC"/>
                </a:solidFill>
              </a:rPr>
              <a:t>• Stage 2 - Build: </a:t>
            </a:r>
            <a:r>
              <a:rPr sz="1200" b="0" dirty="0">
                <a:solidFill>
                  <a:srgbClr val="94A3B8"/>
                </a:solidFill>
              </a:rPr>
              <a:t>Docker multi-stage build (</a:t>
            </a:r>
            <a:r>
              <a:rPr sz="1200" b="0" dirty="0" err="1">
                <a:solidFill>
                  <a:srgbClr val="94A3B8"/>
                </a:solidFill>
              </a:rPr>
              <a:t>linux</a:t>
            </a:r>
            <a:r>
              <a:rPr sz="1200" b="0" dirty="0">
                <a:solidFill>
                  <a:srgbClr val="94A3B8"/>
                </a:solidFill>
              </a:rPr>
              <a:t>/amd64) tagged with Git commit SHA</a:t>
            </a:r>
          </a:p>
          <a:p>
            <a:pPr>
              <a:spcAft>
                <a:spcPts val="600"/>
              </a:spcAft>
            </a:pPr>
            <a:r>
              <a:rPr sz="1300" b="1" dirty="0">
                <a:solidFill>
                  <a:srgbClr val="F8FAFC"/>
                </a:solidFill>
              </a:rPr>
              <a:t>• </a:t>
            </a:r>
            <a:r>
              <a:rPr sz="1300" b="1" dirty="0" err="1">
                <a:solidFill>
                  <a:srgbClr val="F8FAFC"/>
                </a:solidFill>
              </a:rPr>
              <a:t>Trivy</a:t>
            </a:r>
            <a:r>
              <a:rPr sz="1300" b="1" dirty="0">
                <a:solidFill>
                  <a:srgbClr val="F8FAFC"/>
                </a:solidFill>
              </a:rPr>
              <a:t> Security Gate: </a:t>
            </a:r>
            <a:r>
              <a:rPr sz="1200" b="0" dirty="0">
                <a:solidFill>
                  <a:srgbClr val="94A3B8"/>
                </a:solidFill>
              </a:rPr>
              <a:t>Scans images; fails build (exit-code 1) on HIGH or CRITICAL CVEs</a:t>
            </a:r>
          </a:p>
          <a:p>
            <a:pPr>
              <a:spcAft>
                <a:spcPts val="600"/>
              </a:spcAft>
            </a:pPr>
            <a:r>
              <a:rPr sz="1300" b="1" dirty="0">
                <a:solidFill>
                  <a:srgbClr val="F8FAFC"/>
                </a:solidFill>
              </a:rPr>
              <a:t>• Artifact Registry: </a:t>
            </a:r>
            <a:r>
              <a:rPr sz="1200" b="0" dirty="0">
                <a:solidFill>
                  <a:srgbClr val="94A3B8"/>
                </a:solidFill>
              </a:rPr>
              <a:t>Pushed to GitHub Container Registry (ghcr.io) with immutable SHA tags</a:t>
            </a:r>
          </a:p>
        </p:txBody>
      </p:sp>
      <p:sp>
        <p:nvSpPr>
          <p:cNvPr id="6" name="Rectangle 5"/>
          <p:cNvSpPr/>
          <p:nvPr/>
        </p:nvSpPr>
        <p:spPr>
          <a:xfrm>
            <a:off x="731520" y="1645920"/>
            <a:ext cx="32918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1645920"/>
            <a:ext cx="32918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rPr dirty="0"/>
              <a:t>2. </a:t>
            </a:r>
            <a:r>
              <a:rPr dirty="0" err="1"/>
              <a:t>GitOps</a:t>
            </a:r>
            <a:r>
              <a:rPr dirty="0"/>
              <a:t> Delivery</a:t>
            </a:r>
          </a:p>
          <a:p>
            <a:pPr>
              <a:spcAft>
                <a:spcPts val="600"/>
              </a:spcAft>
            </a:pPr>
            <a:r>
              <a:rPr sz="1300" b="1" dirty="0">
                <a:solidFill>
                  <a:srgbClr val="F8FAFC"/>
                </a:solidFill>
              </a:rPr>
              <a:t>• </a:t>
            </a:r>
            <a:r>
              <a:rPr sz="1300" b="1" dirty="0" err="1">
                <a:solidFill>
                  <a:srgbClr val="F8FAFC"/>
                </a:solidFill>
              </a:rPr>
              <a:t>GitOps</a:t>
            </a:r>
            <a:r>
              <a:rPr sz="1300" b="1" dirty="0">
                <a:solidFill>
                  <a:srgbClr val="F8FAFC"/>
                </a:solidFill>
              </a:rPr>
              <a:t> Commit: </a:t>
            </a:r>
            <a:r>
              <a:rPr sz="1200" b="0" dirty="0">
                <a:solidFill>
                  <a:srgbClr val="94A3B8"/>
                </a:solidFill>
              </a:rPr>
              <a:t>Pinned </a:t>
            </a:r>
            <a:r>
              <a:rPr sz="1200" b="0" dirty="0" err="1">
                <a:solidFill>
                  <a:srgbClr val="94A3B8"/>
                </a:solidFill>
              </a:rPr>
              <a:t>yq</a:t>
            </a:r>
            <a:r>
              <a:rPr sz="1200" b="0" dirty="0">
                <a:solidFill>
                  <a:srgbClr val="94A3B8"/>
                </a:solidFill>
              </a:rPr>
              <a:t> v4.44.3 updates values-</a:t>
            </a:r>
            <a:r>
              <a:rPr sz="1200" b="0" dirty="0" err="1">
                <a:solidFill>
                  <a:srgbClr val="94A3B8"/>
                </a:solidFill>
              </a:rPr>
              <a:t>prod.yaml</a:t>
            </a:r>
            <a:r>
              <a:rPr sz="1200" b="0" dirty="0">
                <a:solidFill>
                  <a:srgbClr val="94A3B8"/>
                </a:solidFill>
              </a:rPr>
              <a:t> with new SHA tags &amp; commits [skip ci]</a:t>
            </a:r>
          </a:p>
          <a:p>
            <a:pPr>
              <a:spcAft>
                <a:spcPts val="600"/>
              </a:spcAft>
            </a:pPr>
            <a:r>
              <a:rPr sz="1300" b="1" dirty="0">
                <a:solidFill>
                  <a:srgbClr val="F8FAFC"/>
                </a:solidFill>
              </a:rPr>
              <a:t>• Zero Cluster Access: </a:t>
            </a:r>
            <a:r>
              <a:rPr sz="1200" b="0" dirty="0">
                <a:solidFill>
                  <a:srgbClr val="94A3B8"/>
                </a:solidFill>
              </a:rPr>
              <a:t>CI pipeline has no AWS/K8s credentials — eliminating attack vectors</a:t>
            </a:r>
          </a:p>
          <a:p>
            <a:pPr>
              <a:spcAft>
                <a:spcPts val="600"/>
              </a:spcAft>
            </a:pPr>
            <a:r>
              <a:rPr sz="1300" b="1" dirty="0">
                <a:solidFill>
                  <a:srgbClr val="F8FAFC"/>
                </a:solidFill>
              </a:rPr>
              <a:t>• </a:t>
            </a:r>
            <a:r>
              <a:rPr sz="1300" b="1" dirty="0" err="1">
                <a:solidFill>
                  <a:srgbClr val="F8FAFC"/>
                </a:solidFill>
              </a:rPr>
              <a:t>ArgoCD</a:t>
            </a:r>
            <a:r>
              <a:rPr sz="1300" b="1" dirty="0">
                <a:solidFill>
                  <a:srgbClr val="F8FAFC"/>
                </a:solidFill>
              </a:rPr>
              <a:t> Controller: </a:t>
            </a:r>
            <a:r>
              <a:rPr sz="1200" b="0" dirty="0">
                <a:solidFill>
                  <a:srgbClr val="94A3B8"/>
                </a:solidFill>
              </a:rPr>
              <a:t>Watches Git repo, auto-detects tag updates, and triggers sync</a:t>
            </a:r>
          </a:p>
          <a:p>
            <a:pPr>
              <a:spcAft>
                <a:spcPts val="600"/>
              </a:spcAft>
            </a:pPr>
            <a:r>
              <a:rPr sz="1300" b="1" dirty="0">
                <a:solidFill>
                  <a:srgbClr val="F8FAFC"/>
                </a:solidFill>
              </a:rPr>
              <a:t>• Self-Healing: </a:t>
            </a:r>
            <a:r>
              <a:rPr sz="1200" b="0" dirty="0">
                <a:solidFill>
                  <a:srgbClr val="94A3B8"/>
                </a:solidFill>
              </a:rPr>
              <a:t>Reconciles cluster state every 3 mins and prunes orphaned resources automatically</a:t>
            </a:r>
          </a:p>
        </p:txBody>
      </p:sp>
      <p:sp>
        <p:nvSpPr>
          <p:cNvPr id="8" name="Rectangle 7"/>
          <p:cNvSpPr/>
          <p:nvPr/>
        </p:nvSpPr>
        <p:spPr>
          <a:xfrm>
            <a:off x="4389120" y="1645920"/>
            <a:ext cx="32918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20" y="1645920"/>
            <a:ext cx="33832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FBBF24"/>
                </a:solidFill>
              </a:defRPr>
            </a:pPr>
            <a:r>
              <a:t>3. Cloud &amp; Observability</a:t>
            </a:r>
          </a:p>
          <a:p>
            <a:pPr>
              <a:spcAft>
                <a:spcPts val="600"/>
              </a:spcAft>
            </a:pPr>
            <a:r>
              <a:rPr sz="1300" b="1">
                <a:solidFill>
                  <a:srgbClr val="F8FAFC"/>
                </a:solidFill>
              </a:rPr>
              <a:t>• AWS EKS (ap-south-1): </a:t>
            </a:r>
            <a:r>
              <a:rPr sz="1200" b="0">
                <a:solidFill>
                  <a:srgbClr val="94A3B8"/>
                </a:solidFill>
              </a:rPr>
              <a:t>Multi-AZ VPC (10.20.0.0/16) provisioned by Terraform with managed node groups</a:t>
            </a:r>
          </a:p>
          <a:p>
            <a:pPr>
              <a:spcAft>
                <a:spcPts val="600"/>
              </a:spcAft>
            </a:pPr>
            <a:r>
              <a:rPr sz="1300" b="1">
                <a:solidFill>
                  <a:srgbClr val="F8FAFC"/>
                </a:solidFill>
              </a:rPr>
              <a:t>• Kubernetes Ingress: </a:t>
            </a:r>
            <a:r>
              <a:rPr sz="1200" b="0">
                <a:solidFill>
                  <a:srgbClr val="94A3B8"/>
                </a:solidFill>
              </a:rPr>
              <a:t>NGINX Ingress Controller with AWS NLB routing / to Frontend &amp; /api to Backend</a:t>
            </a:r>
          </a:p>
          <a:p>
            <a:pPr>
              <a:spcAft>
                <a:spcPts val="600"/>
              </a:spcAft>
            </a:pPr>
            <a:r>
              <a:rPr sz="1300" b="1">
                <a:solidFill>
                  <a:srgbClr val="F8FAFC"/>
                </a:solidFill>
              </a:rPr>
              <a:t>• Workloads: </a:t>
            </a:r>
            <a:r>
              <a:rPr sz="1200" b="0">
                <a:solidFill>
                  <a:srgbClr val="94A3B8"/>
                </a:solidFill>
              </a:rPr>
              <a:t>2x Backend pods (UID 10001), 2x Frontend pods (UID 101), PostgreSQL PVC</a:t>
            </a:r>
          </a:p>
          <a:p>
            <a:pPr>
              <a:spcAft>
                <a:spcPts val="600"/>
              </a:spcAft>
            </a:pPr>
            <a:r>
              <a:rPr sz="1300" b="1">
                <a:solidFill>
                  <a:srgbClr val="F8FAFC"/>
                </a:solidFill>
              </a:rPr>
              <a:t>• Prometheus &amp; Grafana: </a:t>
            </a:r>
            <a:r>
              <a:rPr sz="1200" b="0">
                <a:solidFill>
                  <a:srgbClr val="94A3B8"/>
                </a:solidFill>
              </a:rPr>
              <a:t>kube-prometheus-stack scrapes /metrics; Grafana sidecar provisions dashboards</a:t>
            </a:r>
          </a:p>
        </p:txBody>
      </p:sp>
      <p:sp>
        <p:nvSpPr>
          <p:cNvPr id="10" name="Rectangle 9"/>
          <p:cNvSpPr/>
          <p:nvPr/>
        </p:nvSpPr>
        <p:spPr>
          <a:xfrm>
            <a:off x="8046720" y="1645920"/>
            <a:ext cx="338328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TOOLS &amp; TECHNOLOGIES</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Multi-Layered Technology Stack</a:t>
            </a:r>
          </a:p>
        </p:txBody>
      </p:sp>
      <p:sp>
        <p:nvSpPr>
          <p:cNvPr id="5" name="Rounded Rectangle 4"/>
          <p:cNvSpPr/>
          <p:nvPr/>
        </p:nvSpPr>
        <p:spPr>
          <a:xfrm>
            <a:off x="731520" y="1645920"/>
            <a:ext cx="3383280" cy="21488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rPr dirty="0"/>
              <a:t>Application Layer</a:t>
            </a:r>
          </a:p>
          <a:p>
            <a:pPr>
              <a:spcAft>
                <a:spcPts val="600"/>
              </a:spcAft>
            </a:pPr>
            <a:r>
              <a:rPr sz="1300" b="1" dirty="0">
                <a:solidFill>
                  <a:srgbClr val="F8FAFC"/>
                </a:solidFill>
              </a:rPr>
              <a:t>• </a:t>
            </a:r>
            <a:r>
              <a:rPr sz="1300" b="1" dirty="0" err="1">
                <a:solidFill>
                  <a:srgbClr val="F8FAFC"/>
                </a:solidFill>
              </a:rPr>
              <a:t>FastAPI</a:t>
            </a:r>
            <a:r>
              <a:rPr sz="1300" b="1" dirty="0">
                <a:solidFill>
                  <a:srgbClr val="F8FAFC"/>
                </a:solidFill>
              </a:rPr>
              <a:t> 0.115: </a:t>
            </a:r>
            <a:r>
              <a:rPr sz="1200" b="0" dirty="0">
                <a:solidFill>
                  <a:srgbClr val="94A3B8"/>
                </a:solidFill>
              </a:rPr>
              <a:t>High-performance Python backend</a:t>
            </a:r>
          </a:p>
          <a:p>
            <a:pPr>
              <a:spcAft>
                <a:spcPts val="600"/>
              </a:spcAft>
            </a:pPr>
            <a:r>
              <a:rPr sz="1300" b="1" dirty="0">
                <a:solidFill>
                  <a:srgbClr val="F8FAFC"/>
                </a:solidFill>
              </a:rPr>
              <a:t>• </a:t>
            </a:r>
            <a:r>
              <a:rPr sz="1300" b="1" dirty="0" err="1">
                <a:solidFill>
                  <a:srgbClr val="F8FAFC"/>
                </a:solidFill>
              </a:rPr>
              <a:t>SQLAlchemy</a:t>
            </a:r>
            <a:r>
              <a:rPr sz="1300" b="1" dirty="0">
                <a:solidFill>
                  <a:srgbClr val="F8FAFC"/>
                </a:solidFill>
              </a:rPr>
              <a:t> 2 &amp; Alembic: </a:t>
            </a:r>
            <a:r>
              <a:rPr sz="1200" b="0" dirty="0">
                <a:solidFill>
                  <a:srgbClr val="94A3B8"/>
                </a:solidFill>
              </a:rPr>
              <a:t>ORM &amp; DB migrations</a:t>
            </a:r>
          </a:p>
          <a:p>
            <a:pPr>
              <a:spcAft>
                <a:spcPts val="600"/>
              </a:spcAft>
            </a:pPr>
            <a:r>
              <a:rPr sz="1300" b="1" dirty="0">
                <a:solidFill>
                  <a:srgbClr val="F8FAFC"/>
                </a:solidFill>
              </a:rPr>
              <a:t>• React 18 &amp; Vite 6: </a:t>
            </a:r>
            <a:r>
              <a:rPr sz="1200" b="0" dirty="0">
                <a:solidFill>
                  <a:srgbClr val="94A3B8"/>
                </a:solidFill>
              </a:rPr>
              <a:t>Modern responsive SPA frontend</a:t>
            </a:r>
          </a:p>
          <a:p>
            <a:pPr>
              <a:spcAft>
                <a:spcPts val="600"/>
              </a:spcAft>
            </a:pPr>
            <a:r>
              <a:rPr sz="1300" b="1" dirty="0">
                <a:solidFill>
                  <a:srgbClr val="F8FAFC"/>
                </a:solidFill>
              </a:rPr>
              <a:t>• PostgreSQL 16: </a:t>
            </a:r>
            <a:r>
              <a:rPr sz="1200" b="0" dirty="0">
                <a:solidFill>
                  <a:srgbClr val="94A3B8"/>
                </a:solidFill>
              </a:rPr>
              <a:t>Relational persistent storage</a:t>
            </a:r>
          </a:p>
        </p:txBody>
      </p:sp>
      <p:sp>
        <p:nvSpPr>
          <p:cNvPr id="6" name="Rectangle 5"/>
          <p:cNvSpPr/>
          <p:nvPr/>
        </p:nvSpPr>
        <p:spPr>
          <a:xfrm>
            <a:off x="731520" y="1645920"/>
            <a:ext cx="33832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1645920"/>
            <a:ext cx="3383280" cy="21488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rPr dirty="0"/>
              <a:t>Quality &amp; Testing</a:t>
            </a:r>
          </a:p>
          <a:p>
            <a:pPr>
              <a:spcAft>
                <a:spcPts val="600"/>
              </a:spcAft>
            </a:pPr>
            <a:r>
              <a:rPr sz="1300" b="1" dirty="0">
                <a:solidFill>
                  <a:srgbClr val="F8FAFC"/>
                </a:solidFill>
              </a:rPr>
              <a:t>• </a:t>
            </a:r>
            <a:r>
              <a:rPr sz="1300" b="1" dirty="0" err="1">
                <a:solidFill>
                  <a:srgbClr val="F8FAFC"/>
                </a:solidFill>
              </a:rPr>
              <a:t>Pytest</a:t>
            </a:r>
            <a:r>
              <a:rPr sz="1300" b="1" dirty="0">
                <a:solidFill>
                  <a:srgbClr val="F8FAFC"/>
                </a:solidFill>
              </a:rPr>
              <a:t> &amp; SQLite: </a:t>
            </a:r>
            <a:r>
              <a:rPr sz="1200" b="0" dirty="0">
                <a:solidFill>
                  <a:srgbClr val="94A3B8"/>
                </a:solidFill>
              </a:rPr>
              <a:t>10 isolated test cases</a:t>
            </a:r>
          </a:p>
          <a:p>
            <a:pPr>
              <a:spcAft>
                <a:spcPts val="600"/>
              </a:spcAft>
            </a:pPr>
            <a:r>
              <a:rPr sz="1300" b="1" dirty="0">
                <a:solidFill>
                  <a:srgbClr val="F8FAFC"/>
                </a:solidFill>
              </a:rPr>
              <a:t>• Test Coverage: </a:t>
            </a:r>
            <a:r>
              <a:rPr sz="1200" b="0" dirty="0">
                <a:solidFill>
                  <a:srgbClr val="94A3B8"/>
                </a:solidFill>
              </a:rPr>
              <a:t>Health, readiness, CRUD &amp; validation</a:t>
            </a:r>
          </a:p>
          <a:p>
            <a:pPr>
              <a:spcAft>
                <a:spcPts val="600"/>
              </a:spcAft>
            </a:pPr>
            <a:r>
              <a:rPr sz="1300" b="1" dirty="0">
                <a:solidFill>
                  <a:srgbClr val="F8FAFC"/>
                </a:solidFill>
              </a:rPr>
              <a:t>• Node Build: </a:t>
            </a:r>
            <a:r>
              <a:rPr sz="1200" b="0" dirty="0">
                <a:solidFill>
                  <a:srgbClr val="94A3B8"/>
                </a:solidFill>
              </a:rPr>
              <a:t>Vite production asset validation</a:t>
            </a:r>
          </a:p>
          <a:p>
            <a:pPr>
              <a:spcAft>
                <a:spcPts val="600"/>
              </a:spcAft>
            </a:pPr>
            <a:r>
              <a:rPr sz="1300" b="1" dirty="0">
                <a:solidFill>
                  <a:srgbClr val="F8FAFC"/>
                </a:solidFill>
              </a:rPr>
              <a:t>• Non-Root Security: </a:t>
            </a:r>
            <a:r>
              <a:rPr sz="1200" b="0" dirty="0">
                <a:solidFill>
                  <a:srgbClr val="94A3B8"/>
                </a:solidFill>
              </a:rPr>
              <a:t>UID 10001 (app) &amp; UID 101 (nginx)</a:t>
            </a:r>
          </a:p>
        </p:txBody>
      </p:sp>
      <p:sp>
        <p:nvSpPr>
          <p:cNvPr id="8" name="Rectangle 7"/>
          <p:cNvSpPr/>
          <p:nvPr/>
        </p:nvSpPr>
        <p:spPr>
          <a:xfrm>
            <a:off x="4389120" y="1645920"/>
            <a:ext cx="33832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20" y="1645920"/>
            <a:ext cx="3383280" cy="21488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FBBF24"/>
                </a:solidFill>
              </a:defRPr>
            </a:pPr>
            <a:r>
              <a:t>CI/CD &amp; Security</a:t>
            </a:r>
          </a:p>
          <a:p>
            <a:pPr>
              <a:spcAft>
                <a:spcPts val="600"/>
              </a:spcAft>
            </a:pPr>
            <a:r>
              <a:rPr sz="1300" b="1">
                <a:solidFill>
                  <a:srgbClr val="F8FAFC"/>
                </a:solidFill>
              </a:rPr>
              <a:t>• GitHub Actions: </a:t>
            </a:r>
            <a:r>
              <a:rPr sz="1200" b="0">
                <a:solidFill>
                  <a:srgbClr val="94A3B8"/>
                </a:solidFill>
              </a:rPr>
              <a:t>2-stage automated pipeline</a:t>
            </a:r>
          </a:p>
          <a:p>
            <a:pPr>
              <a:spcAft>
                <a:spcPts val="600"/>
              </a:spcAft>
            </a:pPr>
            <a:r>
              <a:rPr sz="1300" b="1">
                <a:solidFill>
                  <a:srgbClr val="F8FAFC"/>
                </a:solidFill>
              </a:rPr>
              <a:t>• Aqua Trivy: </a:t>
            </a:r>
            <a:r>
              <a:rPr sz="1200" b="0">
                <a:solidFill>
                  <a:srgbClr val="94A3B8"/>
                </a:solidFill>
              </a:rPr>
              <a:t>Container vulnerability hard gate</a:t>
            </a:r>
          </a:p>
          <a:p>
            <a:pPr>
              <a:spcAft>
                <a:spcPts val="600"/>
              </a:spcAft>
            </a:pPr>
            <a:r>
              <a:rPr sz="1300" b="1">
                <a:solidFill>
                  <a:srgbClr val="F8FAFC"/>
                </a:solidFill>
              </a:rPr>
              <a:t>• GHCR Registry: </a:t>
            </a:r>
            <a:r>
              <a:rPr sz="1200" b="0">
                <a:solidFill>
                  <a:srgbClr val="94A3B8"/>
                </a:solidFill>
              </a:rPr>
              <a:t>Immutable commit SHA tagging</a:t>
            </a:r>
          </a:p>
          <a:p>
            <a:pPr>
              <a:spcAft>
                <a:spcPts val="600"/>
              </a:spcAft>
            </a:pPr>
            <a:r>
              <a:rPr sz="1300" b="1">
                <a:solidFill>
                  <a:srgbClr val="F8FAFC"/>
                </a:solidFill>
              </a:rPr>
              <a:t>• yq v4.44.3: </a:t>
            </a:r>
            <a:r>
              <a:rPr sz="1200" b="0">
                <a:solidFill>
                  <a:srgbClr val="94A3B8"/>
                </a:solidFill>
              </a:rPr>
              <a:t>Automated GitOps tag updates</a:t>
            </a:r>
          </a:p>
        </p:txBody>
      </p:sp>
      <p:sp>
        <p:nvSpPr>
          <p:cNvPr id="10" name="Rectangle 9"/>
          <p:cNvSpPr/>
          <p:nvPr/>
        </p:nvSpPr>
        <p:spPr>
          <a:xfrm>
            <a:off x="8046720" y="1645920"/>
            <a:ext cx="338328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023360"/>
            <a:ext cx="3383280" cy="224028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FBBF24"/>
                </a:solidFill>
              </a:defRPr>
            </a:pPr>
            <a:r>
              <a:t>Infrastructure as Code</a:t>
            </a:r>
          </a:p>
          <a:p>
            <a:pPr>
              <a:spcAft>
                <a:spcPts val="600"/>
              </a:spcAft>
            </a:pPr>
            <a:r>
              <a:rPr sz="1300" b="1">
                <a:solidFill>
                  <a:srgbClr val="F8FAFC"/>
                </a:solidFill>
              </a:rPr>
              <a:t>• Terraform &gt;= 1.7: </a:t>
            </a:r>
            <a:r>
              <a:rPr sz="1200" b="0">
                <a:solidFill>
                  <a:srgbClr val="94A3B8"/>
                </a:solidFill>
              </a:rPr>
              <a:t>AWS infrastructure management</a:t>
            </a:r>
          </a:p>
          <a:p>
            <a:pPr>
              <a:spcAft>
                <a:spcPts val="600"/>
              </a:spcAft>
            </a:pPr>
            <a:r>
              <a:rPr sz="1300" b="1">
                <a:solidFill>
                  <a:srgbClr val="F8FAFC"/>
                </a:solidFill>
              </a:rPr>
              <a:t>• AWS VPC (Mumbai): </a:t>
            </a:r>
            <a:r>
              <a:rPr sz="1200" b="0">
                <a:solidFill>
                  <a:srgbClr val="94A3B8"/>
                </a:solidFill>
              </a:rPr>
              <a:t>10.20.0.0/16, multi-AZ subnets, NAT</a:t>
            </a:r>
          </a:p>
          <a:p>
            <a:pPr>
              <a:spcAft>
                <a:spcPts val="600"/>
              </a:spcAft>
            </a:pPr>
            <a:r>
              <a:rPr sz="1300" b="1">
                <a:solidFill>
                  <a:srgbClr val="F8FAFC"/>
                </a:solidFill>
              </a:rPr>
              <a:t>• AWS EKS 1.31: </a:t>
            </a:r>
            <a:r>
              <a:rPr sz="1200" b="0">
                <a:solidFill>
                  <a:srgbClr val="94A3B8"/>
                </a:solidFill>
              </a:rPr>
              <a:t>Managed Kubernetes control plane</a:t>
            </a:r>
          </a:p>
          <a:p>
            <a:pPr>
              <a:spcAft>
                <a:spcPts val="600"/>
              </a:spcAft>
            </a:pPr>
            <a:r>
              <a:rPr sz="1300" b="1">
                <a:solidFill>
                  <a:srgbClr val="F8FAFC"/>
                </a:solidFill>
              </a:rPr>
              <a:t>• Auto-Scaling Nodes: </a:t>
            </a:r>
            <a:r>
              <a:rPr sz="1200" b="0">
                <a:solidFill>
                  <a:srgbClr val="94A3B8"/>
                </a:solidFill>
              </a:rPr>
              <a:t>t3.medium EC2 instances</a:t>
            </a:r>
          </a:p>
        </p:txBody>
      </p:sp>
      <p:sp>
        <p:nvSpPr>
          <p:cNvPr id="12" name="Rectangle 11"/>
          <p:cNvSpPr/>
          <p:nvPr/>
        </p:nvSpPr>
        <p:spPr>
          <a:xfrm>
            <a:off x="731520" y="4023360"/>
            <a:ext cx="338328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89120" y="4023360"/>
            <a:ext cx="3383280" cy="224028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Kubernetes &amp; GitOps</a:t>
            </a:r>
          </a:p>
          <a:p>
            <a:pPr>
              <a:spcAft>
                <a:spcPts val="600"/>
              </a:spcAft>
            </a:pPr>
            <a:r>
              <a:rPr sz="1300" b="1">
                <a:solidFill>
                  <a:srgbClr val="F8FAFC"/>
                </a:solidFill>
              </a:rPr>
              <a:t>• Helm 3 Chart: </a:t>
            </a:r>
            <a:r>
              <a:rPr sz="1200" b="0">
                <a:solidFill>
                  <a:srgbClr val="94A3B8"/>
                </a:solidFill>
              </a:rPr>
              <a:t>Parametrized taskboard chart</a:t>
            </a:r>
          </a:p>
          <a:p>
            <a:pPr>
              <a:spcAft>
                <a:spcPts val="600"/>
              </a:spcAft>
            </a:pPr>
            <a:r>
              <a:rPr sz="1300" b="1">
                <a:solidFill>
                  <a:srgbClr val="F8FAFC"/>
                </a:solidFill>
              </a:rPr>
              <a:t>• NGINX Ingress: </a:t>
            </a:r>
            <a:r>
              <a:rPr sz="1200" b="0">
                <a:solidFill>
                  <a:srgbClr val="94A3B8"/>
                </a:solidFill>
              </a:rPr>
              <a:t>AWS Network Load Balancer (NLB)</a:t>
            </a:r>
          </a:p>
          <a:p>
            <a:pPr>
              <a:spcAft>
                <a:spcPts val="600"/>
              </a:spcAft>
            </a:pPr>
            <a:r>
              <a:rPr sz="1300" b="1">
                <a:solidFill>
                  <a:srgbClr val="F8FAFC"/>
                </a:solidFill>
              </a:rPr>
              <a:t>• ArgoCD Controller: </a:t>
            </a:r>
            <a:r>
              <a:rPr sz="1200" b="0">
                <a:solidFill>
                  <a:srgbClr val="94A3B8"/>
                </a:solidFill>
              </a:rPr>
              <a:t>Declarative GitOps deployment</a:t>
            </a:r>
          </a:p>
          <a:p>
            <a:pPr>
              <a:spcAft>
                <a:spcPts val="600"/>
              </a:spcAft>
            </a:pPr>
            <a:r>
              <a:rPr sz="1300" b="1">
                <a:solidFill>
                  <a:srgbClr val="F8FAFC"/>
                </a:solidFill>
              </a:rPr>
              <a:t>• Self-Healing Sync: </a:t>
            </a:r>
            <a:r>
              <a:rPr sz="1200" b="0">
                <a:solidFill>
                  <a:srgbClr val="94A3B8"/>
                </a:solidFill>
              </a:rPr>
              <a:t>Zero drift, automatic rollback</a:t>
            </a:r>
          </a:p>
        </p:txBody>
      </p:sp>
      <p:sp>
        <p:nvSpPr>
          <p:cNvPr id="14" name="Rectangle 13"/>
          <p:cNvSpPr/>
          <p:nvPr/>
        </p:nvSpPr>
        <p:spPr>
          <a:xfrm>
            <a:off x="4389120" y="4023360"/>
            <a:ext cx="33832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46720" y="4023360"/>
            <a:ext cx="3383280" cy="224028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t>Full-Stack Observability</a:t>
            </a:r>
          </a:p>
          <a:p>
            <a:pPr>
              <a:spcAft>
                <a:spcPts val="600"/>
              </a:spcAft>
            </a:pPr>
            <a:r>
              <a:rPr sz="1300" b="1">
                <a:solidFill>
                  <a:srgbClr val="F8FAFC"/>
                </a:solidFill>
              </a:rPr>
              <a:t>• Prometheus Operator: </a:t>
            </a:r>
            <a:r>
              <a:rPr sz="1200" b="0">
                <a:solidFill>
                  <a:srgbClr val="94A3B8"/>
                </a:solidFill>
              </a:rPr>
              <a:t>kube-prometheus-stack Helm chart</a:t>
            </a:r>
          </a:p>
          <a:p>
            <a:pPr>
              <a:spcAft>
                <a:spcPts val="600"/>
              </a:spcAft>
            </a:pPr>
            <a:r>
              <a:rPr sz="1300" b="1">
                <a:solidFill>
                  <a:srgbClr val="F8FAFC"/>
                </a:solidFill>
              </a:rPr>
              <a:t>• ServiceMonitor: </a:t>
            </a:r>
            <a:r>
              <a:rPr sz="1200" b="0">
                <a:solidFill>
                  <a:srgbClr val="94A3B8"/>
                </a:solidFill>
              </a:rPr>
              <a:t>Automated endpoint target discovery</a:t>
            </a:r>
          </a:p>
          <a:p>
            <a:pPr>
              <a:spcAft>
                <a:spcPts val="600"/>
              </a:spcAft>
            </a:pPr>
            <a:r>
              <a:rPr sz="1300" b="1">
                <a:solidFill>
                  <a:srgbClr val="F8FAFC"/>
                </a:solidFill>
              </a:rPr>
              <a:t>• FastAPI Instrumentor: </a:t>
            </a:r>
            <a:r>
              <a:rPr sz="1200" b="0">
                <a:solidFill>
                  <a:srgbClr val="94A3B8"/>
                </a:solidFill>
              </a:rPr>
              <a:t>Native /metrics endpoint exporter</a:t>
            </a:r>
          </a:p>
          <a:p>
            <a:pPr>
              <a:spcAft>
                <a:spcPts val="600"/>
              </a:spcAft>
            </a:pPr>
            <a:r>
              <a:rPr sz="1300" b="1">
                <a:solidFill>
                  <a:srgbClr val="F8FAFC"/>
                </a:solidFill>
              </a:rPr>
              <a:t>• Grafana Dashboard: </a:t>
            </a:r>
            <a:r>
              <a:rPr sz="1200" b="0">
                <a:solidFill>
                  <a:srgbClr val="94A3B8"/>
                </a:solidFill>
              </a:rPr>
              <a:t>Auto-provisioned performance KPIs</a:t>
            </a:r>
          </a:p>
        </p:txBody>
      </p:sp>
      <p:sp>
        <p:nvSpPr>
          <p:cNvPr id="16" name="Rectangle 15"/>
          <p:cNvSpPr/>
          <p:nvPr/>
        </p:nvSpPr>
        <p:spPr>
          <a:xfrm>
            <a:off x="8046720" y="4023360"/>
            <a:ext cx="33832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CONTINUOUS INTEGRATION</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Automated CI/CD Pipeline &amp; Build Gates</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Stage 1: Test &amp; Code Quality (All Events)</a:t>
            </a:r>
          </a:p>
          <a:p>
            <a:pPr>
              <a:spcAft>
                <a:spcPts val="600"/>
              </a:spcAft>
            </a:pPr>
            <a:r>
              <a:rPr sz="1300" b="1">
                <a:solidFill>
                  <a:srgbClr val="F8FAFC"/>
                </a:solidFill>
              </a:rPr>
              <a:t>• Triggers: </a:t>
            </a:r>
            <a:r>
              <a:rPr sz="1200" b="0">
                <a:solidFill>
                  <a:srgbClr val="94A3B8"/>
                </a:solidFill>
              </a:rPr>
              <a:t>Fires on all Pull Requests, pushes, and workflow dispatch.</a:t>
            </a:r>
          </a:p>
          <a:p>
            <a:pPr>
              <a:spcAft>
                <a:spcPts val="600"/>
              </a:spcAft>
            </a:pPr>
            <a:r>
              <a:rPr sz="1300" b="1">
                <a:solidFill>
                  <a:srgbClr val="F8FAFC"/>
                </a:solidFill>
              </a:rPr>
              <a:t>• Environment: </a:t>
            </a:r>
            <a:r>
              <a:rPr sz="1200" b="0">
                <a:solidFill>
                  <a:srgbClr val="94A3B8"/>
                </a:solidFill>
              </a:rPr>
              <a:t>Ubuntu latest runner with isolated Python 3.12 and Node 22.</a:t>
            </a:r>
          </a:p>
          <a:p>
            <a:pPr>
              <a:spcAft>
                <a:spcPts val="600"/>
              </a:spcAft>
            </a:pPr>
            <a:r>
              <a:rPr sz="1300" b="1">
                <a:solidFill>
                  <a:srgbClr val="F8FAFC"/>
                </a:solidFill>
              </a:rPr>
              <a:t>• Pytest Execution: </a:t>
            </a:r>
            <a:r>
              <a:rPr sz="1200" b="0">
                <a:solidFill>
                  <a:srgbClr val="94A3B8"/>
                </a:solidFill>
              </a:rPr>
              <a:t>Runs pytest -v across backend tests with SQLite memory isolation.</a:t>
            </a:r>
          </a:p>
          <a:p>
            <a:pPr>
              <a:spcAft>
                <a:spcPts val="600"/>
              </a:spcAft>
            </a:pPr>
            <a:r>
              <a:rPr sz="1300" b="1">
                <a:solidFill>
                  <a:srgbClr val="F8FAFC"/>
                </a:solidFill>
              </a:rPr>
              <a:t>• 100% Test Pass Gate: </a:t>
            </a:r>
            <a:r>
              <a:rPr sz="1200" b="0">
                <a:solidFill>
                  <a:srgbClr val="94A3B8"/>
                </a:solidFill>
              </a:rPr>
              <a:t>Health, readiness, task creation, validation errors (422), updates, and deletion must pass before proceeding.</a:t>
            </a:r>
          </a:p>
          <a:p>
            <a:pPr>
              <a:spcAft>
                <a:spcPts val="600"/>
              </a:spcAft>
            </a:pPr>
            <a:r>
              <a:rPr sz="1300" b="1">
                <a:solidFill>
                  <a:srgbClr val="F8FAFC"/>
                </a:solidFill>
              </a:rPr>
              <a:t>• Frontend Build Gate: </a:t>
            </a:r>
            <a:r>
              <a:rPr sz="1200" b="0">
                <a:solidFill>
                  <a:srgbClr val="94A3B8"/>
                </a:solidFill>
              </a:rPr>
              <a:t>npm ci &amp;&amp; npm run build verifies JavaScript compilation and asset bundling cleanly.</a:t>
            </a:r>
          </a:p>
        </p:txBody>
      </p:sp>
      <p:sp>
        <p:nvSpPr>
          <p:cNvPr id="6" name="Rectangle 5"/>
          <p:cNvSpPr/>
          <p:nvPr/>
        </p:nvSpPr>
        <p:spPr>
          <a:xfrm>
            <a:off x="731520" y="1645920"/>
            <a:ext cx="51206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t>Stage 2: Build, Scan &amp; GHCR Push (Main Branch)</a:t>
            </a:r>
          </a:p>
          <a:p>
            <a:pPr>
              <a:spcAft>
                <a:spcPts val="600"/>
              </a:spcAft>
            </a:pPr>
            <a:r>
              <a:rPr sz="1300" b="1">
                <a:solidFill>
                  <a:srgbClr val="F8FAFC"/>
                </a:solidFill>
              </a:rPr>
              <a:t>• Execution Filter: </a:t>
            </a:r>
            <a:r>
              <a:rPr sz="1200" b="0">
                <a:solidFill>
                  <a:srgbClr val="94A3B8"/>
                </a:solidFill>
              </a:rPr>
              <a:t>Runs only when code is merged to main and Stage 1 passes completely.</a:t>
            </a:r>
          </a:p>
          <a:p>
            <a:pPr>
              <a:spcAft>
                <a:spcPts val="600"/>
              </a:spcAft>
            </a:pPr>
            <a:r>
              <a:rPr sz="1300" b="1">
                <a:solidFill>
                  <a:srgbClr val="F8FAFC"/>
                </a:solidFill>
              </a:rPr>
              <a:t>• Case-Sensitivity Fix: </a:t>
            </a:r>
            <a:r>
              <a:rPr sz="1200" b="0">
                <a:solidFill>
                  <a:srgbClr val="94A3B8"/>
                </a:solidFill>
              </a:rPr>
              <a:t>Normalizes repository owner name to lowercase (ghcr.io/byt-bender/...) to prevent registry errors.</a:t>
            </a:r>
          </a:p>
          <a:p>
            <a:pPr>
              <a:spcAft>
                <a:spcPts val="600"/>
              </a:spcAft>
            </a:pPr>
            <a:r>
              <a:rPr sz="1300" b="1">
                <a:solidFill>
                  <a:srgbClr val="F8FAFC"/>
                </a:solidFill>
              </a:rPr>
              <a:t>• Immutable SHA Tagging: </a:t>
            </a:r>
            <a:r>
              <a:rPr sz="1200" b="0">
                <a:solidFill>
                  <a:srgbClr val="94A3B8"/>
                </a:solidFill>
              </a:rPr>
              <a:t>Builds linux/amd64 container images tagged with the exact Git commit SHA.</a:t>
            </a:r>
          </a:p>
          <a:p>
            <a:pPr>
              <a:spcAft>
                <a:spcPts val="600"/>
              </a:spcAft>
            </a:pPr>
            <a:r>
              <a:rPr sz="1300" b="1">
                <a:solidFill>
                  <a:srgbClr val="F8FAFC"/>
                </a:solidFill>
              </a:rPr>
              <a:t>• Trivy Vulnerability Scan: </a:t>
            </a:r>
            <a:r>
              <a:rPr sz="1200" b="0">
                <a:solidFill>
                  <a:srgbClr val="94A3B8"/>
                </a:solidFill>
              </a:rPr>
              <a:t>Hard gate: scans both images with exit-code 1 on HIGH or CRITICAL CVEs.</a:t>
            </a:r>
          </a:p>
          <a:p>
            <a:pPr>
              <a:spcAft>
                <a:spcPts val="600"/>
              </a:spcAft>
            </a:pPr>
            <a:r>
              <a:rPr sz="1300" b="1">
                <a:solidFill>
                  <a:srgbClr val="F8FAFC"/>
                </a:solidFill>
              </a:rPr>
              <a:t>• Registry Push: </a:t>
            </a:r>
            <a:r>
              <a:rPr sz="1200" b="0">
                <a:solidFill>
                  <a:srgbClr val="94A3B8"/>
                </a:solidFill>
              </a:rPr>
              <a:t>Pushes verified images to GitHub Container Registry.</a:t>
            </a:r>
          </a:p>
          <a:p>
            <a:pPr>
              <a:spcAft>
                <a:spcPts val="600"/>
              </a:spcAft>
            </a:pPr>
            <a:r>
              <a:rPr sz="1300" b="1">
                <a:solidFill>
                  <a:srgbClr val="F8FAFC"/>
                </a:solidFill>
              </a:rPr>
              <a:t>• GitOps Delivery Update: </a:t>
            </a:r>
            <a:r>
              <a:rPr sz="1200" b="0">
                <a:solidFill>
                  <a:srgbClr val="94A3B8"/>
                </a:solidFill>
              </a:rPr>
              <a:t>Pinned yq v4.44.3 updates values-prod.yaml with new SHA and commits [skip ci].</a:t>
            </a:r>
          </a:p>
        </p:txBody>
      </p:sp>
      <p:sp>
        <p:nvSpPr>
          <p:cNvPr id="8" name="Rectangle 7"/>
          <p:cNvSpPr/>
          <p:nvPr/>
        </p:nvSpPr>
        <p:spPr>
          <a:xfrm>
            <a:off x="6217920" y="1645920"/>
            <a:ext cx="52120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SECURITY SCANNING (M6)</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err="1"/>
              <a:t>DevSecOps</a:t>
            </a:r>
            <a:r>
              <a:rPr dirty="0"/>
              <a:t>: Shift-Left Security &amp; Vulnerability Gating</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FBBF24"/>
                </a:solidFill>
              </a:defRPr>
            </a:pPr>
            <a:r>
              <a:rPr dirty="0" err="1"/>
              <a:t>Trivy</a:t>
            </a:r>
            <a:r>
              <a:rPr dirty="0"/>
              <a:t> Security Enforcement Policy</a:t>
            </a:r>
          </a:p>
          <a:p>
            <a:pPr>
              <a:spcAft>
                <a:spcPts val="600"/>
              </a:spcAft>
            </a:pPr>
            <a:r>
              <a:rPr sz="1300" b="1" dirty="0">
                <a:solidFill>
                  <a:srgbClr val="F8FAFC"/>
                </a:solidFill>
              </a:rPr>
              <a:t>• Shift-Left Principle: </a:t>
            </a:r>
            <a:r>
              <a:rPr sz="1200" b="0" dirty="0">
                <a:solidFill>
                  <a:srgbClr val="94A3B8"/>
                </a:solidFill>
              </a:rPr>
              <a:t>Security is evaluated directly in CI prior to any image being pushed or deployed.</a:t>
            </a:r>
          </a:p>
          <a:p>
            <a:pPr>
              <a:spcAft>
                <a:spcPts val="600"/>
              </a:spcAft>
            </a:pPr>
            <a:r>
              <a:rPr sz="1300" b="1" dirty="0">
                <a:solidFill>
                  <a:srgbClr val="F8FAFC"/>
                </a:solidFill>
              </a:rPr>
              <a:t>• Severity Threshold: </a:t>
            </a:r>
            <a:r>
              <a:rPr sz="1200" b="0" dirty="0">
                <a:solidFill>
                  <a:srgbClr val="94A3B8"/>
                </a:solidFill>
              </a:rPr>
              <a:t>Targeted at --severity HIGH,CRITICAL to prevent severe exploits.</a:t>
            </a:r>
          </a:p>
          <a:p>
            <a:pPr>
              <a:spcAft>
                <a:spcPts val="600"/>
              </a:spcAft>
            </a:pPr>
            <a:r>
              <a:rPr sz="1300" b="1" dirty="0">
                <a:solidFill>
                  <a:srgbClr val="F8FAFC"/>
                </a:solidFill>
              </a:rPr>
              <a:t>• Zero Tolerance Gate: </a:t>
            </a:r>
            <a:r>
              <a:rPr sz="1200" b="0" dirty="0">
                <a:solidFill>
                  <a:srgbClr val="94A3B8"/>
                </a:solidFill>
              </a:rPr>
              <a:t>Configured with --exit-code 1 — any unpatched finding immediately terminates the pipeline.</a:t>
            </a:r>
          </a:p>
          <a:p>
            <a:pPr>
              <a:spcAft>
                <a:spcPts val="600"/>
              </a:spcAft>
            </a:pPr>
            <a:r>
              <a:rPr sz="1300" b="1" dirty="0">
                <a:solidFill>
                  <a:srgbClr val="F8FAFC"/>
                </a:solidFill>
              </a:rPr>
              <a:t>• Actionable Filtering: </a:t>
            </a:r>
            <a:r>
              <a:rPr sz="1200" b="0" dirty="0">
                <a:solidFill>
                  <a:srgbClr val="94A3B8"/>
                </a:solidFill>
              </a:rPr>
              <a:t>--ignore-unfixed filters out low-level OS issues without vendor patches, focusing on actionable flaws.</a:t>
            </a:r>
          </a:p>
          <a:p>
            <a:pPr>
              <a:spcAft>
                <a:spcPts val="600"/>
              </a:spcAft>
            </a:pPr>
            <a:r>
              <a:rPr sz="1300" b="1" dirty="0">
                <a:solidFill>
                  <a:srgbClr val="F8FAFC"/>
                </a:solidFill>
              </a:rPr>
              <a:t>• Dual-Image Coverage: </a:t>
            </a:r>
            <a:r>
              <a:rPr sz="1200" b="0" dirty="0">
                <a:solidFill>
                  <a:srgbClr val="94A3B8"/>
                </a:solidFill>
              </a:rPr>
              <a:t>Both the </a:t>
            </a:r>
            <a:r>
              <a:rPr sz="1200" b="0" dirty="0" err="1">
                <a:solidFill>
                  <a:srgbClr val="94A3B8"/>
                </a:solidFill>
              </a:rPr>
              <a:t>FastAPI</a:t>
            </a:r>
            <a:r>
              <a:rPr sz="1200" b="0" dirty="0">
                <a:solidFill>
                  <a:srgbClr val="94A3B8"/>
                </a:solidFill>
              </a:rPr>
              <a:t> backend and Nginx unprivileged frontend are scanned.</a:t>
            </a:r>
          </a:p>
        </p:txBody>
      </p:sp>
      <p:sp>
        <p:nvSpPr>
          <p:cNvPr id="6" name="Rectangle 5"/>
          <p:cNvSpPr/>
          <p:nvPr/>
        </p:nvSpPr>
        <p:spPr>
          <a:xfrm>
            <a:off x="731520" y="1645920"/>
            <a:ext cx="512064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t>Real-World CVE Remediation Case Study</a:t>
            </a:r>
          </a:p>
          <a:p>
            <a:pPr>
              <a:spcAft>
                <a:spcPts val="600"/>
              </a:spcAft>
            </a:pPr>
            <a:r>
              <a:rPr sz="1300" b="1">
                <a:solidFill>
                  <a:srgbClr val="F8FAFC"/>
                </a:solidFill>
              </a:rPr>
              <a:t>• Vulnerabilities Identified: </a:t>
            </a:r>
            <a:r>
              <a:rPr sz="1200" b="0">
                <a:solidFill>
                  <a:srgbClr val="94A3B8"/>
                </a:solidFill>
              </a:rPr>
              <a:t>Trivy detected 3 HIGH CVEs in legacy Starlette 0.41.3:</a:t>
            </a:r>
          </a:p>
          <a:p>
            <a:pPr>
              <a:spcAft>
                <a:spcPts val="600"/>
              </a:spcAft>
            </a:pPr>
            <a:r>
              <a:rPr sz="1300" b="1">
                <a:solidFill>
                  <a:srgbClr val="F8FAFC"/>
                </a:solidFill>
              </a:rPr>
              <a:t>• CVE-2025-62727: </a:t>
            </a:r>
            <a:r>
              <a:rPr sz="1200" b="0">
                <a:solidFill>
                  <a:srgbClr val="94A3B8"/>
                </a:solidFill>
              </a:rPr>
              <a:t>Inefficient HTTP Range header parsing in FileResponse causing Denial of Service.</a:t>
            </a:r>
          </a:p>
          <a:p>
            <a:pPr>
              <a:spcAft>
                <a:spcPts val="600"/>
              </a:spcAft>
            </a:pPr>
            <a:r>
              <a:rPr sz="1300" b="1">
                <a:solidFill>
                  <a:srgbClr val="F8FAFC"/>
                </a:solidFill>
              </a:rPr>
              <a:t>• CVE-2026-48818: </a:t>
            </a:r>
            <a:r>
              <a:rPr sz="1200" b="0">
                <a:solidFill>
                  <a:srgbClr val="94A3B8"/>
                </a:solidFill>
              </a:rPr>
              <a:t>Windows StaticFiles path flaw enabling SSRF and credential theft.</a:t>
            </a:r>
          </a:p>
          <a:p>
            <a:pPr>
              <a:spcAft>
                <a:spcPts val="600"/>
              </a:spcAft>
            </a:pPr>
            <a:r>
              <a:rPr sz="1300" b="1">
                <a:solidFill>
                  <a:srgbClr val="F8FAFC"/>
                </a:solidFill>
              </a:rPr>
              <a:t>• CVE-2026-54283: </a:t>
            </a:r>
            <a:r>
              <a:rPr sz="1200" b="0">
                <a:solidFill>
                  <a:srgbClr val="94A3B8"/>
                </a:solidFill>
              </a:rPr>
              <a:t>Unbounded URL-encoded form parsing leading to memory exhaustion DoS.</a:t>
            </a:r>
          </a:p>
          <a:p>
            <a:pPr>
              <a:spcAft>
                <a:spcPts val="600"/>
              </a:spcAft>
            </a:pPr>
            <a:r>
              <a:rPr sz="1300" b="1">
                <a:solidFill>
                  <a:srgbClr val="F8FAFC"/>
                </a:solidFill>
              </a:rPr>
              <a:t>• Root Cause &amp; Conflict: </a:t>
            </a:r>
            <a:r>
              <a:rPr sz="1200" b="0">
                <a:solidFill>
                  <a:srgbClr val="94A3B8"/>
                </a:solidFill>
              </a:rPr>
              <a:t>prometheus-fastapi-instrumentator 7.0.2 constrained Starlette to &lt;1.0.0, blocking security patches.</a:t>
            </a:r>
          </a:p>
          <a:p>
            <a:pPr>
              <a:spcAft>
                <a:spcPts val="600"/>
              </a:spcAft>
            </a:pPr>
            <a:r>
              <a:rPr sz="1300" b="1">
                <a:solidFill>
                  <a:srgbClr val="F8FAFC"/>
                </a:solidFill>
              </a:rPr>
              <a:t>• Resolution: </a:t>
            </a:r>
            <a:r>
              <a:rPr sz="1200" b="0">
                <a:solidFill>
                  <a:srgbClr val="94A3B8"/>
                </a:solidFill>
              </a:rPr>
              <a:t>Upgraded Instrumentator to 8.1.0 and Starlette to 1.3.1; Trivy scan passed with zero findings!</a:t>
            </a:r>
          </a:p>
        </p:txBody>
      </p:sp>
      <p:sp>
        <p:nvSpPr>
          <p:cNvPr id="8" name="Rectangle 7"/>
          <p:cNvSpPr/>
          <p:nvPr/>
        </p:nvSpPr>
        <p:spPr>
          <a:xfrm>
            <a:off x="6217920" y="1645920"/>
            <a:ext cx="52120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TERRAFORM IAC (M7)</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t>Infrastructure as Code with Terraform on AWS</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AWS Cloud Architecture (ap-south-1)</a:t>
            </a:r>
          </a:p>
          <a:p>
            <a:pPr>
              <a:spcAft>
                <a:spcPts val="600"/>
              </a:spcAft>
            </a:pPr>
            <a:r>
              <a:rPr sz="1300" b="1">
                <a:solidFill>
                  <a:srgbClr val="F8FAFC"/>
                </a:solidFill>
              </a:rPr>
              <a:t>• Modular Architecture: </a:t>
            </a:r>
            <a:r>
              <a:rPr sz="1200" b="0">
                <a:solidFill>
                  <a:srgbClr val="94A3B8"/>
                </a:solidFill>
              </a:rPr>
              <a:t>Clean separation into versions.tf, variables.tf, main.tf, outputs.tf, and terraform.tfvars.example.</a:t>
            </a:r>
          </a:p>
          <a:p>
            <a:pPr>
              <a:spcAft>
                <a:spcPts val="600"/>
              </a:spcAft>
            </a:pPr>
            <a:r>
              <a:rPr sz="1300" b="1">
                <a:solidFill>
                  <a:srgbClr val="F8FAFC"/>
                </a:solidFill>
              </a:rPr>
              <a:t>• VPC Provisioning: </a:t>
            </a:r>
            <a:r>
              <a:rPr sz="1200" b="0">
                <a:solidFill>
                  <a:srgbClr val="94A3B8"/>
                </a:solidFill>
              </a:rPr>
              <a:t>Custom VPC with CIDR block 10.20.0.0/16 across two availability zones (ap-south-1a &amp; ap-south-1b).</a:t>
            </a:r>
          </a:p>
          <a:p>
            <a:pPr>
              <a:spcAft>
                <a:spcPts val="600"/>
              </a:spcAft>
            </a:pPr>
            <a:r>
              <a:rPr sz="1300" b="1">
                <a:solidFill>
                  <a:srgbClr val="F8FAFC"/>
                </a:solidFill>
              </a:rPr>
              <a:t>• Subnet Segmentation: </a:t>
            </a:r>
            <a:r>
              <a:rPr sz="1200" b="0">
                <a:solidFill>
                  <a:srgbClr val="94A3B8"/>
                </a:solidFill>
              </a:rPr>
              <a:t>2 public subnets for external load balancers and 2 private subnets for EKS compute nodes.</a:t>
            </a:r>
          </a:p>
          <a:p>
            <a:pPr>
              <a:spcAft>
                <a:spcPts val="600"/>
              </a:spcAft>
            </a:pPr>
            <a:r>
              <a:rPr sz="1300" b="1">
                <a:solidFill>
                  <a:srgbClr val="F8FAFC"/>
                </a:solidFill>
              </a:rPr>
              <a:t>• NAT Gateway: </a:t>
            </a:r>
            <a:r>
              <a:rPr sz="1200" b="0">
                <a:solidFill>
                  <a:srgbClr val="94A3B8"/>
                </a:solidFill>
              </a:rPr>
              <a:t>Single managed NAT Gateway providing secure outbound internet access for private workloads.</a:t>
            </a:r>
          </a:p>
          <a:p>
            <a:pPr>
              <a:spcAft>
                <a:spcPts val="600"/>
              </a:spcAft>
            </a:pPr>
            <a:r>
              <a:rPr sz="1300" b="1">
                <a:solidFill>
                  <a:srgbClr val="F8FAFC"/>
                </a:solidFill>
              </a:rPr>
              <a:t>• EKS Cluster v1.31: </a:t>
            </a:r>
            <a:r>
              <a:rPr sz="1200" b="0">
                <a:solidFill>
                  <a:srgbClr val="94A3B8"/>
                </a:solidFill>
              </a:rPr>
              <a:t>Managed Kubernetes control plane with public API endpoint and IAM OIDC provider for IRSA.</a:t>
            </a:r>
          </a:p>
        </p:txBody>
      </p:sp>
      <p:sp>
        <p:nvSpPr>
          <p:cNvPr id="6" name="Rectangle 5"/>
          <p:cNvSpPr/>
          <p:nvPr/>
        </p:nvSpPr>
        <p:spPr>
          <a:xfrm>
            <a:off x="731520" y="1645920"/>
            <a:ext cx="51206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FBBF24"/>
                </a:solidFill>
              </a:defRPr>
            </a:pPr>
            <a:r>
              <a:t>Operational Governance &amp; Security</a:t>
            </a:r>
          </a:p>
          <a:p>
            <a:pPr>
              <a:spcAft>
                <a:spcPts val="600"/>
              </a:spcAft>
            </a:pPr>
            <a:r>
              <a:rPr sz="1300" b="1">
                <a:solidFill>
                  <a:srgbClr val="F8FAFC"/>
                </a:solidFill>
              </a:rPr>
              <a:t>• Managed Node Groups: </a:t>
            </a:r>
            <a:r>
              <a:rPr sz="1200" b="0">
                <a:solidFill>
                  <a:srgbClr val="94A3B8"/>
                </a:solidFill>
              </a:rPr>
              <a:t>Autoscaling worker node group using t3.medium EC2 instances (2 to 4 nodes).</a:t>
            </a:r>
          </a:p>
          <a:p>
            <a:pPr>
              <a:spcAft>
                <a:spcPts val="600"/>
              </a:spcAft>
            </a:pPr>
            <a:r>
              <a:rPr sz="1300" b="1">
                <a:solidFill>
                  <a:srgbClr val="F8FAFC"/>
                </a:solidFill>
              </a:rPr>
              <a:t>• Strict Tagging Policy: </a:t>
            </a:r>
            <a:r>
              <a:rPr sz="1200" b="0">
                <a:solidFill>
                  <a:srgbClr val="94A3B8"/>
                </a:solidFill>
              </a:rPr>
              <a:t>All resources tagged with Environment=dev, Project=devsecops-capstone, and ManagedBy=terraform.</a:t>
            </a:r>
          </a:p>
          <a:p>
            <a:pPr>
              <a:spcAft>
                <a:spcPts val="600"/>
              </a:spcAft>
            </a:pPr>
            <a:r>
              <a:rPr sz="1300" b="1">
                <a:solidFill>
                  <a:srgbClr val="F8FAFC"/>
                </a:solidFill>
              </a:rPr>
              <a:t>• Zero Secrets in Git: </a:t>
            </a:r>
            <a:r>
              <a:rPr sz="1200" b="0">
                <a:solidFill>
                  <a:srgbClr val="94A3B8"/>
                </a:solidFill>
              </a:rPr>
              <a:t>All sensitive variables provided via local terraform.tfvars (strictly ignored in .gitignore).</a:t>
            </a:r>
          </a:p>
          <a:p>
            <a:pPr>
              <a:spcAft>
                <a:spcPts val="600"/>
              </a:spcAft>
            </a:pPr>
            <a:r>
              <a:rPr sz="1300" b="1">
                <a:solidFill>
                  <a:srgbClr val="F8FAFC"/>
                </a:solidFill>
              </a:rPr>
              <a:t>• Deterministic Planning: </a:t>
            </a:r>
            <a:r>
              <a:rPr sz="1200" b="0">
                <a:solidFill>
                  <a:srgbClr val="94A3B8"/>
                </a:solidFill>
              </a:rPr>
              <a:t>terraform plan executed and verified before every apply operation.</a:t>
            </a:r>
          </a:p>
          <a:p>
            <a:pPr>
              <a:spcAft>
                <a:spcPts val="600"/>
              </a:spcAft>
            </a:pPr>
            <a:r>
              <a:rPr sz="1300" b="1">
                <a:solidFill>
                  <a:srgbClr val="F8FAFC"/>
                </a:solidFill>
              </a:rPr>
              <a:t>• Clean Teardown: </a:t>
            </a:r>
            <a:r>
              <a:rPr sz="1200" b="0">
                <a:solidFill>
                  <a:srgbClr val="94A3B8"/>
                </a:solidFill>
              </a:rPr>
              <a:t>Fully verified terraform destroy script ensuring zero lingering AWS billing.</a:t>
            </a:r>
          </a:p>
        </p:txBody>
      </p:sp>
      <p:sp>
        <p:nvSpPr>
          <p:cNvPr id="8" name="Rectangle 7"/>
          <p:cNvSpPr/>
          <p:nvPr/>
        </p:nvSpPr>
        <p:spPr>
          <a:xfrm>
            <a:off x="6217919" y="1645920"/>
            <a:ext cx="5212079"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KUBERNETES &amp; HELM (M8)</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Container Architecture &amp; Kubernetes Helm Packaging</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Multi-Stage Non-Root Containers</a:t>
            </a:r>
          </a:p>
          <a:p>
            <a:pPr>
              <a:spcAft>
                <a:spcPts val="600"/>
              </a:spcAft>
            </a:pPr>
            <a:r>
              <a:rPr sz="1300" b="1">
                <a:solidFill>
                  <a:srgbClr val="F8FAFC"/>
                </a:solidFill>
              </a:rPr>
              <a:t>• Backend Container: </a:t>
            </a:r>
            <a:r>
              <a:rPr sz="1200" b="0">
                <a:solidFill>
                  <a:srgbClr val="94A3B8"/>
                </a:solidFill>
              </a:rPr>
              <a:t>Built on python:3.12-slim with non-root appuser (UID 10001). Pre-runs Alembic migrations before starting Uvicorn.</a:t>
            </a:r>
          </a:p>
          <a:p>
            <a:pPr>
              <a:spcAft>
                <a:spcPts val="600"/>
              </a:spcAft>
            </a:pPr>
            <a:r>
              <a:rPr sz="1300" b="1">
                <a:solidFill>
                  <a:srgbClr val="F8FAFC"/>
                </a:solidFill>
              </a:rPr>
              <a:t>• Frontend Container: </a:t>
            </a:r>
            <a:r>
              <a:rPr sz="1200" b="0">
                <a:solidFill>
                  <a:srgbClr val="94A3B8"/>
                </a:solidFill>
              </a:rPr>
              <a:t>2-stage build: compiles React assets in Node 22, then serves statically via nginxinc/nginx-unprivileged:alpine.</a:t>
            </a:r>
          </a:p>
          <a:p>
            <a:pPr>
              <a:spcAft>
                <a:spcPts val="600"/>
              </a:spcAft>
            </a:pPr>
            <a:r>
              <a:rPr sz="1300" b="1">
                <a:solidFill>
                  <a:srgbClr val="F8FAFC"/>
                </a:solidFill>
              </a:rPr>
              <a:t>• Security Hardening: </a:t>
            </a:r>
            <a:r>
              <a:rPr sz="1200" b="0">
                <a:solidFill>
                  <a:srgbClr val="94A3B8"/>
                </a:solidFill>
              </a:rPr>
              <a:t>Frontend runs as unprivileged user (UID 101) on non-privileged port 8080.</a:t>
            </a:r>
          </a:p>
          <a:p>
            <a:pPr>
              <a:spcAft>
                <a:spcPts val="600"/>
              </a:spcAft>
            </a:pPr>
            <a:r>
              <a:rPr sz="1300" b="1">
                <a:solidFill>
                  <a:srgbClr val="F8FAFC"/>
                </a:solidFill>
              </a:rPr>
              <a:t>• Docker Compose Local: </a:t>
            </a:r>
            <a:r>
              <a:rPr sz="1200" b="0">
                <a:solidFill>
                  <a:srgbClr val="94A3B8"/>
                </a:solidFill>
              </a:rPr>
              <a:t>Single-command local environment: docker compose up --build spins up frontend, backend, and PostgreSQL.</a:t>
            </a:r>
          </a:p>
        </p:txBody>
      </p:sp>
      <p:sp>
        <p:nvSpPr>
          <p:cNvPr id="6" name="Rectangle 5"/>
          <p:cNvSpPr/>
          <p:nvPr/>
        </p:nvSpPr>
        <p:spPr>
          <a:xfrm>
            <a:off x="731520" y="1645920"/>
            <a:ext cx="51206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t>Helm Chart Architecture (helm/taskboard)</a:t>
            </a:r>
          </a:p>
          <a:p>
            <a:pPr>
              <a:spcAft>
                <a:spcPts val="600"/>
              </a:spcAft>
            </a:pPr>
            <a:r>
              <a:rPr sz="1300" b="1">
                <a:solidFill>
                  <a:srgbClr val="F8FAFC"/>
                </a:solidFill>
              </a:rPr>
              <a:t>• Parametrized Packaging: </a:t>
            </a:r>
            <a:r>
              <a:rPr sz="1200" b="0">
                <a:solidFill>
                  <a:srgbClr val="94A3B8"/>
                </a:solidFill>
              </a:rPr>
              <a:t>Single unified Helm chart containing Backend, Frontend, PostgreSQL, Ingress, HPA, and ServiceMonitor.</a:t>
            </a:r>
          </a:p>
          <a:p>
            <a:pPr>
              <a:spcAft>
                <a:spcPts val="600"/>
              </a:spcAft>
            </a:pPr>
            <a:r>
              <a:rPr sz="1300" b="1">
                <a:solidFill>
                  <a:srgbClr val="F8FAFC"/>
                </a:solidFill>
              </a:rPr>
              <a:t>• Environment Profiles: </a:t>
            </a:r>
            <a:r>
              <a:rPr sz="1200" b="0">
                <a:solidFill>
                  <a:srgbClr val="94A3B8"/>
                </a:solidFill>
              </a:rPr>
              <a:t>values.yaml for baseline defaults; values-prod.yaml for production (2 replicas, SHA tags, Ingress enabled).</a:t>
            </a:r>
          </a:p>
          <a:p>
            <a:pPr>
              <a:spcAft>
                <a:spcPts val="600"/>
              </a:spcAft>
            </a:pPr>
            <a:r>
              <a:rPr sz="1300" b="1">
                <a:solidFill>
                  <a:srgbClr val="F8FAFC"/>
                </a:solidFill>
              </a:rPr>
              <a:t>• NGINX Ingress &amp; AWS NLB: </a:t>
            </a:r>
            <a:r>
              <a:rPr sz="1200" b="0">
                <a:solidFill>
                  <a:srgbClr val="94A3B8"/>
                </a:solidFill>
              </a:rPr>
              <a:t>Routes root / traffic to the React frontend (port 80) and /api traffic to the FastAPI backend (port 8000).</a:t>
            </a:r>
          </a:p>
          <a:p>
            <a:pPr>
              <a:spcAft>
                <a:spcPts val="600"/>
              </a:spcAft>
            </a:pPr>
            <a:r>
              <a:rPr sz="1300" b="1">
                <a:solidFill>
                  <a:srgbClr val="F8FAFC"/>
                </a:solidFill>
              </a:rPr>
              <a:t>• High Availability: </a:t>
            </a:r>
            <a:r>
              <a:rPr sz="1200" b="0">
                <a:solidFill>
                  <a:srgbClr val="94A3B8"/>
                </a:solidFill>
              </a:rPr>
              <a:t>2 replicas each for frontend and backend with readiness and liveness health checks.</a:t>
            </a:r>
          </a:p>
          <a:p>
            <a:pPr>
              <a:spcAft>
                <a:spcPts val="600"/>
              </a:spcAft>
            </a:pPr>
            <a:r>
              <a:rPr sz="1300" b="1">
                <a:solidFill>
                  <a:srgbClr val="F8FAFC"/>
                </a:solidFill>
              </a:rPr>
              <a:t>• Persistence: </a:t>
            </a:r>
            <a:r>
              <a:rPr sz="1200" b="0">
                <a:solidFill>
                  <a:srgbClr val="94A3B8"/>
                </a:solidFill>
              </a:rPr>
              <a:t>PostgreSQL backed by Kubernetes PersistentVolumeClaim (PVC).</a:t>
            </a:r>
          </a:p>
        </p:txBody>
      </p:sp>
      <p:sp>
        <p:nvSpPr>
          <p:cNvPr id="8" name="Rectangle 7"/>
          <p:cNvSpPr/>
          <p:nvPr/>
        </p:nvSpPr>
        <p:spPr>
          <a:xfrm>
            <a:off x="6217920" y="1645920"/>
            <a:ext cx="52120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GITOPS CONTINUOUS DELIVERY</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Declarative </a:t>
            </a:r>
            <a:r>
              <a:rPr dirty="0" err="1"/>
              <a:t>GitOps</a:t>
            </a:r>
            <a:r>
              <a:rPr dirty="0"/>
              <a:t> Delivery with </a:t>
            </a:r>
            <a:r>
              <a:rPr dirty="0" err="1"/>
              <a:t>ArgoCD</a:t>
            </a:r>
            <a:endParaRPr dirty="0"/>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t>GitOps Principles &amp; Zero-Access CI</a:t>
            </a:r>
          </a:p>
          <a:p>
            <a:pPr>
              <a:spcAft>
                <a:spcPts val="600"/>
              </a:spcAft>
            </a:pPr>
            <a:r>
              <a:rPr sz="1300" b="1">
                <a:solidFill>
                  <a:srgbClr val="F8FAFC"/>
                </a:solidFill>
              </a:rPr>
              <a:t>• Git as Single Source of Truth: </a:t>
            </a:r>
            <a:r>
              <a:rPr sz="1200" b="0">
                <a:solidFill>
                  <a:srgbClr val="94A3B8"/>
                </a:solidFill>
              </a:rPr>
              <a:t>The desired cluster state is completely defined within the Git repository (helm/taskboard).</a:t>
            </a:r>
          </a:p>
          <a:p>
            <a:pPr>
              <a:spcAft>
                <a:spcPts val="600"/>
              </a:spcAft>
            </a:pPr>
            <a:r>
              <a:rPr sz="1300" b="1">
                <a:solidFill>
                  <a:srgbClr val="F8FAFC"/>
                </a:solidFill>
              </a:rPr>
              <a:t>• Pull-Based Deployment: </a:t>
            </a:r>
            <a:r>
              <a:rPr sz="1200" b="0">
                <a:solidFill>
                  <a:srgbClr val="94A3B8"/>
                </a:solidFill>
              </a:rPr>
              <a:t>ArgoCD controller runs inside EKS and pulls changes from Git, rather than CI pushing into the cluster.</a:t>
            </a:r>
          </a:p>
          <a:p>
            <a:pPr>
              <a:spcAft>
                <a:spcPts val="600"/>
              </a:spcAft>
            </a:pPr>
            <a:r>
              <a:rPr sz="1300" b="1">
                <a:solidFill>
                  <a:srgbClr val="F8FAFC"/>
                </a:solidFill>
              </a:rPr>
              <a:t>• Credential Isolation: </a:t>
            </a:r>
            <a:r>
              <a:rPr sz="1200" b="0">
                <a:solidFill>
                  <a:srgbClr val="94A3B8"/>
                </a:solidFill>
              </a:rPr>
              <a:t>GitHub Actions CI requires zero AWS or Kubernetes credentials — eliminating high-risk credential leaks.</a:t>
            </a:r>
          </a:p>
          <a:p>
            <a:pPr>
              <a:spcAft>
                <a:spcPts val="600"/>
              </a:spcAft>
            </a:pPr>
            <a:r>
              <a:rPr sz="1300" b="1">
                <a:solidFill>
                  <a:srgbClr val="F8FAFC"/>
                </a:solidFill>
              </a:rPr>
              <a:t>• Auditability &amp; History: </a:t>
            </a:r>
            <a:r>
              <a:rPr sz="1200" b="0">
                <a:solidFill>
                  <a:srgbClr val="94A3B8"/>
                </a:solidFill>
              </a:rPr>
              <a:t>Every deployment corresponds to a verified Git commit SHA, providing complete change traceability.</a:t>
            </a:r>
          </a:p>
        </p:txBody>
      </p:sp>
      <p:sp>
        <p:nvSpPr>
          <p:cNvPr id="6" name="Rectangle 5"/>
          <p:cNvSpPr/>
          <p:nvPr/>
        </p:nvSpPr>
        <p:spPr>
          <a:xfrm>
            <a:off x="746760" y="1645920"/>
            <a:ext cx="510540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Automated Reconciliation &amp; Self-Healing</a:t>
            </a:r>
          </a:p>
          <a:p>
            <a:pPr>
              <a:spcAft>
                <a:spcPts val="600"/>
              </a:spcAft>
            </a:pPr>
            <a:r>
              <a:rPr sz="1300" b="1">
                <a:solidFill>
                  <a:srgbClr val="F8FAFC"/>
                </a:solidFill>
              </a:rPr>
              <a:t>• ArgoCD Application CRD: </a:t>
            </a:r>
            <a:r>
              <a:rPr sz="1200" b="0">
                <a:solidFill>
                  <a:srgbClr val="94A3B8"/>
                </a:solidFill>
              </a:rPr>
              <a:t>Configured via k8s/argocd-application.yaml targeting the taskboard namespace.</a:t>
            </a:r>
          </a:p>
          <a:p>
            <a:pPr>
              <a:spcAft>
                <a:spcPts val="600"/>
              </a:spcAft>
            </a:pPr>
            <a:r>
              <a:rPr sz="1300" b="1">
                <a:solidFill>
                  <a:srgbClr val="F8FAFC"/>
                </a:solidFill>
              </a:rPr>
              <a:t>• Automated Sync Policy: </a:t>
            </a:r>
            <a:r>
              <a:rPr sz="1200" b="0">
                <a:solidFill>
                  <a:srgbClr val="94A3B8"/>
                </a:solidFill>
              </a:rPr>
              <a:t>Syncs immediately upon detecting new image SHA tags committed by CI to values-prod.yaml.</a:t>
            </a:r>
          </a:p>
          <a:p>
            <a:pPr>
              <a:spcAft>
                <a:spcPts val="600"/>
              </a:spcAft>
            </a:pPr>
            <a:r>
              <a:rPr sz="1300" b="1">
                <a:solidFill>
                  <a:srgbClr val="F8FAFC"/>
                </a:solidFill>
              </a:rPr>
              <a:t>• Self-Healing (selfHeal: true): </a:t>
            </a:r>
            <a:r>
              <a:rPr sz="1200" b="0">
                <a:solidFill>
                  <a:srgbClr val="94A3B8"/>
                </a:solidFill>
              </a:rPr>
              <a:t>Any out-of-band manual kubectl edits or deleted pods are automatically detected and reverted.</a:t>
            </a:r>
          </a:p>
          <a:p>
            <a:pPr>
              <a:spcAft>
                <a:spcPts val="600"/>
              </a:spcAft>
            </a:pPr>
            <a:r>
              <a:rPr sz="1300" b="1">
                <a:solidFill>
                  <a:srgbClr val="F8FAFC"/>
                </a:solidFill>
              </a:rPr>
              <a:t>• Resource Pruning (prune: true): </a:t>
            </a:r>
            <a:r>
              <a:rPr sz="1200" b="0">
                <a:solidFill>
                  <a:srgbClr val="94A3B8"/>
                </a:solidFill>
              </a:rPr>
              <a:t>Obsolete Kubernetes resources removed from the chart are pruned automatically.</a:t>
            </a:r>
          </a:p>
          <a:p>
            <a:pPr>
              <a:spcAft>
                <a:spcPts val="600"/>
              </a:spcAft>
            </a:pPr>
            <a:r>
              <a:rPr sz="1300" b="1">
                <a:solidFill>
                  <a:srgbClr val="F8FAFC"/>
                </a:solidFill>
              </a:rPr>
              <a:t>• Zero Downtime Rollout: </a:t>
            </a:r>
            <a:r>
              <a:rPr sz="1200" b="0">
                <a:solidFill>
                  <a:srgbClr val="94A3B8"/>
                </a:solidFill>
              </a:rPr>
              <a:t>Performs rolling deployments across replicas ensuring continuous availability.</a:t>
            </a:r>
          </a:p>
        </p:txBody>
      </p:sp>
      <p:sp>
        <p:nvSpPr>
          <p:cNvPr id="8" name="Rectangle 7"/>
          <p:cNvSpPr/>
          <p:nvPr/>
        </p:nvSpPr>
        <p:spPr>
          <a:xfrm>
            <a:off x="6217920" y="1645920"/>
            <a:ext cx="52120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OBSERVABILITY (M9)</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Full-Stack Observability &amp; Metrics Dashboard</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FBBF24"/>
                </a:solidFill>
              </a:defRPr>
            </a:pPr>
            <a:r>
              <a:t>Prometheus Metrics Pipeline</a:t>
            </a:r>
          </a:p>
          <a:p>
            <a:pPr>
              <a:spcAft>
                <a:spcPts val="600"/>
              </a:spcAft>
            </a:pPr>
            <a:r>
              <a:rPr sz="1300" b="1">
                <a:solidFill>
                  <a:srgbClr val="F8FAFC"/>
                </a:solidFill>
              </a:rPr>
              <a:t>• Native Instrumentation: </a:t>
            </a:r>
            <a:r>
              <a:rPr sz="1200" b="0">
                <a:solidFill>
                  <a:srgbClr val="94A3B8"/>
                </a:solidFill>
              </a:rPr>
              <a:t>FastAPI instrumented via prometheus-fastapi-instrumentator, exposing metrics at /metrics.</a:t>
            </a:r>
          </a:p>
          <a:p>
            <a:pPr>
              <a:spcAft>
                <a:spcPts val="600"/>
              </a:spcAft>
            </a:pPr>
            <a:r>
              <a:rPr sz="1300" b="1">
                <a:solidFill>
                  <a:srgbClr val="F8FAFC"/>
                </a:solidFill>
              </a:rPr>
              <a:t>• Metric Scope: </a:t>
            </a:r>
            <a:r>
              <a:rPr sz="1200" b="0">
                <a:solidFill>
                  <a:srgbClr val="94A3B8"/>
                </a:solidFill>
              </a:rPr>
              <a:t>Captures total HTTP requests, response latency histograms, error counters, and task counters.</a:t>
            </a:r>
          </a:p>
          <a:p>
            <a:pPr>
              <a:spcAft>
                <a:spcPts val="600"/>
              </a:spcAft>
            </a:pPr>
            <a:r>
              <a:rPr sz="1300" b="1">
                <a:solidFill>
                  <a:srgbClr val="F8FAFC"/>
                </a:solidFill>
              </a:rPr>
              <a:t>• kube-prometheus-stack: </a:t>
            </a:r>
            <a:r>
              <a:rPr sz="1200" b="0">
                <a:solidFill>
                  <a:srgbClr val="94A3B8"/>
                </a:solidFill>
              </a:rPr>
              <a:t>Installed via Helm in the monitoring namespace with Prometheus Operator.</a:t>
            </a:r>
          </a:p>
          <a:p>
            <a:pPr>
              <a:spcAft>
                <a:spcPts val="600"/>
              </a:spcAft>
            </a:pPr>
            <a:r>
              <a:rPr sz="1300" b="1">
                <a:solidFill>
                  <a:srgbClr val="F8FAFC"/>
                </a:solidFill>
              </a:rPr>
              <a:t>• ServiceMonitor CRD: </a:t>
            </a:r>
            <a:r>
              <a:rPr sz="1200" b="0">
                <a:solidFill>
                  <a:srgbClr val="94A3B8"/>
                </a:solidFill>
              </a:rPr>
              <a:t>Declaratively instructs Prometheus to scrape backend pods on port 8000 every 15s.</a:t>
            </a:r>
          </a:p>
          <a:p>
            <a:pPr>
              <a:spcAft>
                <a:spcPts val="600"/>
              </a:spcAft>
            </a:pPr>
            <a:r>
              <a:rPr sz="1300" b="1">
                <a:solidFill>
                  <a:srgbClr val="F8FAFC"/>
                </a:solidFill>
              </a:rPr>
              <a:t>• Target Verification: </a:t>
            </a:r>
            <a:r>
              <a:rPr sz="1200" b="0">
                <a:solidFill>
                  <a:srgbClr val="94A3B8"/>
                </a:solidFill>
              </a:rPr>
              <a:t>Prometheus Targets dashboard confirms serviceMonitor/taskboard/taskboard-taskboard-backend as UP.</a:t>
            </a:r>
          </a:p>
        </p:txBody>
      </p:sp>
      <p:sp>
        <p:nvSpPr>
          <p:cNvPr id="6" name="Rectangle 5"/>
          <p:cNvSpPr/>
          <p:nvPr/>
        </p:nvSpPr>
        <p:spPr>
          <a:xfrm>
            <a:off x="731520" y="1645920"/>
            <a:ext cx="512064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Auto-Provisioned Grafana Dashboard</a:t>
            </a:r>
          </a:p>
          <a:p>
            <a:pPr>
              <a:spcAft>
                <a:spcPts val="600"/>
              </a:spcAft>
            </a:pPr>
            <a:r>
              <a:rPr sz="1300" b="1">
                <a:solidFill>
                  <a:srgbClr val="F8FAFC"/>
                </a:solidFill>
              </a:rPr>
              <a:t>• Zero Manual Setup: </a:t>
            </a:r>
            <a:r>
              <a:rPr sz="1200" b="0">
                <a:solidFill>
                  <a:srgbClr val="94A3B8"/>
                </a:solidFill>
              </a:rPr>
              <a:t>Dashboard auto-imported via Grafana sidecar monitoring ConfigMaps labeled grafana_dashboard: '1'.</a:t>
            </a:r>
          </a:p>
          <a:p>
            <a:pPr>
              <a:spcAft>
                <a:spcPts val="600"/>
              </a:spcAft>
            </a:pPr>
            <a:r>
              <a:rPr sz="1300" b="1">
                <a:solidFill>
                  <a:srgbClr val="F8FAFC"/>
                </a:solidFill>
              </a:rPr>
              <a:t>• Panel 1 - HTTP Request Rate: </a:t>
            </a:r>
            <a:r>
              <a:rPr sz="1200" b="0">
                <a:solidFill>
                  <a:srgbClr val="94A3B8"/>
                </a:solidFill>
              </a:rPr>
              <a:t>Real-time Requests Per Second (RPS) broken down by route handler and HTTP status.</a:t>
            </a:r>
          </a:p>
          <a:p>
            <a:pPr>
              <a:spcAft>
                <a:spcPts val="600"/>
              </a:spcAft>
            </a:pPr>
            <a:r>
              <a:rPr sz="1300" b="1">
                <a:solidFill>
                  <a:srgbClr val="F8FAFC"/>
                </a:solidFill>
              </a:rPr>
              <a:t>• Panel 2 - p95 Latency: </a:t>
            </a:r>
            <a:r>
              <a:rPr sz="1200" b="0">
                <a:solidFill>
                  <a:srgbClr val="94A3B8"/>
                </a:solidFill>
              </a:rPr>
              <a:t>95th percentile request latency curves highlighting API performance under load.</a:t>
            </a:r>
          </a:p>
          <a:p>
            <a:pPr>
              <a:spcAft>
                <a:spcPts val="600"/>
              </a:spcAft>
            </a:pPr>
            <a:r>
              <a:rPr sz="1300" b="1">
                <a:solidFill>
                  <a:srgbClr val="F8FAFC"/>
                </a:solidFill>
              </a:rPr>
              <a:t>• Panel 3 - Error Rate Tracking: </a:t>
            </a:r>
            <a:r>
              <a:rPr sz="1200" b="0">
                <a:solidFill>
                  <a:srgbClr val="94A3B8"/>
                </a:solidFill>
              </a:rPr>
              <a:t>Instant visibility into 4xx client errors and 5xx server exceptions.</a:t>
            </a:r>
          </a:p>
          <a:p>
            <a:pPr>
              <a:spcAft>
                <a:spcPts val="600"/>
              </a:spcAft>
            </a:pPr>
            <a:r>
              <a:rPr sz="1300" b="1">
                <a:solidFill>
                  <a:srgbClr val="F8FAFC"/>
                </a:solidFill>
              </a:rPr>
              <a:t>• Panel 4 - Total Tasks Processed: </a:t>
            </a:r>
            <a:r>
              <a:rPr sz="1200" b="0">
                <a:solidFill>
                  <a:srgbClr val="94A3B8"/>
                </a:solidFill>
              </a:rPr>
              <a:t>Application-level counter showing tasks managed by the backend engine.</a:t>
            </a:r>
          </a:p>
          <a:p>
            <a:pPr>
              <a:spcAft>
                <a:spcPts val="600"/>
              </a:spcAft>
            </a:pPr>
            <a:r>
              <a:rPr sz="1300" b="1">
                <a:solidFill>
                  <a:srgbClr val="F8FAFC"/>
                </a:solidFill>
              </a:rPr>
              <a:t>• Traffic Verification: </a:t>
            </a:r>
            <a:r>
              <a:rPr sz="1200" b="0">
                <a:solidFill>
                  <a:srgbClr val="94A3B8"/>
                </a:solidFill>
              </a:rPr>
              <a:t>Tested using scripts/load-test.sh generating 500 requests to demonstrate live spikes.</a:t>
            </a:r>
          </a:p>
        </p:txBody>
      </p:sp>
      <p:sp>
        <p:nvSpPr>
          <p:cNvPr id="8" name="Rectangle 7"/>
          <p:cNvSpPr/>
          <p:nvPr/>
        </p:nvSpPr>
        <p:spPr>
          <a:xfrm>
            <a:off x="6217920" y="1645920"/>
            <a:ext cx="52120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KEY LEARNINGS</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Engineering Challenges &amp; Production Lessons</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FBBF24"/>
                </a:solidFill>
              </a:defRPr>
            </a:pPr>
            <a:r>
              <a:t>Challenges Overcome</a:t>
            </a:r>
          </a:p>
          <a:p>
            <a:pPr>
              <a:spcAft>
                <a:spcPts val="600"/>
              </a:spcAft>
            </a:pPr>
            <a:r>
              <a:rPr sz="1300" b="1">
                <a:solidFill>
                  <a:srgbClr val="F8FAFC"/>
                </a:solidFill>
              </a:rPr>
              <a:t>• Transitive Dependency Hell: </a:t>
            </a:r>
            <a:r>
              <a:rPr sz="1200" b="0">
                <a:solidFill>
                  <a:srgbClr val="94A3B8"/>
                </a:solidFill>
              </a:rPr>
              <a:t>Starlette CVEs could not be patched until identifying that the older Prometheus instrumentator held an incompatible version pin.</a:t>
            </a:r>
          </a:p>
          <a:p>
            <a:pPr>
              <a:spcAft>
                <a:spcPts val="600"/>
              </a:spcAft>
            </a:pPr>
            <a:r>
              <a:rPr sz="1300" b="1">
                <a:solidFill>
                  <a:srgbClr val="F8FAFC"/>
                </a:solidFill>
              </a:rPr>
              <a:t>• Docker Registry Case Sensitivity: </a:t>
            </a:r>
            <a:r>
              <a:rPr sz="1200" b="0">
                <a:solidFill>
                  <a:srgbClr val="94A3B8"/>
                </a:solidFill>
              </a:rPr>
              <a:t>GitHub usernames with uppercase characters cause Docker build/push failures on GHCR; solved with tr '[:upper:]' '[:lower:]' in CI.</a:t>
            </a:r>
          </a:p>
          <a:p>
            <a:pPr>
              <a:spcAft>
                <a:spcPts val="600"/>
              </a:spcAft>
            </a:pPr>
            <a:r>
              <a:rPr sz="1300" b="1">
                <a:solidFill>
                  <a:srgbClr val="F8FAFC"/>
                </a:solidFill>
              </a:rPr>
              <a:t>• Ingress Routing Topology: </a:t>
            </a:r>
            <a:r>
              <a:rPr sz="1200" b="0">
                <a:solidFill>
                  <a:srgbClr val="94A3B8"/>
                </a:solidFill>
              </a:rPr>
              <a:t>Required configuring NGINX ingress with specific annotations for AWS Network Load Balancer (NLB) integration.</a:t>
            </a:r>
          </a:p>
          <a:p>
            <a:pPr>
              <a:spcAft>
                <a:spcPts val="600"/>
              </a:spcAft>
            </a:pPr>
            <a:r>
              <a:rPr sz="1300" b="1">
                <a:solidFill>
                  <a:srgbClr val="F8FAFC"/>
                </a:solidFill>
              </a:rPr>
              <a:t>• Prometheus Operator CRDs: </a:t>
            </a:r>
            <a:r>
              <a:rPr sz="1200" b="0">
                <a:solidFill>
                  <a:srgbClr val="94A3B8"/>
                </a:solidFill>
              </a:rPr>
              <a:t>Isolated Helm validation required selectively toggling ServiceMonitor creation to avoid test failures when CRDs were not present.</a:t>
            </a:r>
          </a:p>
        </p:txBody>
      </p:sp>
      <p:sp>
        <p:nvSpPr>
          <p:cNvPr id="6" name="Rectangle 5"/>
          <p:cNvSpPr/>
          <p:nvPr/>
        </p:nvSpPr>
        <p:spPr>
          <a:xfrm>
            <a:off x="731520" y="1645920"/>
            <a:ext cx="512064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t>Key Production Takeaways</a:t>
            </a:r>
          </a:p>
          <a:p>
            <a:pPr>
              <a:spcAft>
                <a:spcPts val="600"/>
              </a:spcAft>
            </a:pPr>
            <a:r>
              <a:rPr sz="1300" b="1">
                <a:solidFill>
                  <a:srgbClr val="F8FAFC"/>
                </a:solidFill>
              </a:rPr>
              <a:t>• Immutable Git SHAs &gt; :latest: </a:t>
            </a:r>
            <a:r>
              <a:rPr sz="1200" b="0">
                <a:solidFill>
                  <a:srgbClr val="94A3B8"/>
                </a:solidFill>
              </a:rPr>
              <a:t>Tagging container images with Git SHAs ensures full auditability, reproducible rollouts, and deterministic rollbacks.</a:t>
            </a:r>
          </a:p>
          <a:p>
            <a:pPr>
              <a:spcAft>
                <a:spcPts val="600"/>
              </a:spcAft>
            </a:pPr>
            <a:r>
              <a:rPr sz="1300" b="1">
                <a:solidFill>
                  <a:srgbClr val="F8FAFC"/>
                </a:solidFill>
              </a:rPr>
              <a:t>• Shift-Left Security Pays Off: </a:t>
            </a:r>
            <a:r>
              <a:rPr sz="1200" b="0">
                <a:solidFill>
                  <a:srgbClr val="94A3B8"/>
                </a:solidFill>
              </a:rPr>
              <a:t>Blocking vulnerable images in CI before registry push protects production environments before exposure.</a:t>
            </a:r>
          </a:p>
          <a:p>
            <a:pPr>
              <a:spcAft>
                <a:spcPts val="600"/>
              </a:spcAft>
            </a:pPr>
            <a:r>
              <a:rPr sz="1300" b="1">
                <a:solidFill>
                  <a:srgbClr val="F8FAFC"/>
                </a:solidFill>
              </a:rPr>
              <a:t>• GitOps Eliminates Human Error: </a:t>
            </a:r>
            <a:r>
              <a:rPr sz="1200" b="0">
                <a:solidFill>
                  <a:srgbClr val="94A3B8"/>
                </a:solidFill>
              </a:rPr>
              <a:t>Removing direct cluster write permissions from CI and engineers ensures all changes pass through version-controlled peer reviews.</a:t>
            </a:r>
          </a:p>
          <a:p>
            <a:pPr>
              <a:spcAft>
                <a:spcPts val="600"/>
              </a:spcAft>
            </a:pPr>
            <a:r>
              <a:rPr sz="1300" b="1">
                <a:solidFill>
                  <a:srgbClr val="F8FAFC"/>
                </a:solidFill>
              </a:rPr>
              <a:t>• Infrastructure Cost Hygiene: </a:t>
            </a:r>
            <a:r>
              <a:rPr sz="1200" b="0">
                <a:solidFill>
                  <a:srgbClr val="94A3B8"/>
                </a:solidFill>
              </a:rPr>
              <a:t>Automating complete teardown via terraform destroy prevents runaway cloud costs in enterprise environments.</a:t>
            </a:r>
          </a:p>
        </p:txBody>
      </p:sp>
      <p:sp>
        <p:nvSpPr>
          <p:cNvPr id="8" name="Rectangle 7"/>
          <p:cNvSpPr/>
          <p:nvPr/>
        </p:nvSpPr>
        <p:spPr>
          <a:xfrm>
            <a:off x="6217920" y="1645920"/>
            <a:ext cx="52120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292608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defRPr sz="1100" b="1">
                <a:solidFill>
                  <a:srgbClr val="38BDF8"/>
                </a:solidFill>
              </a:defRPr>
            </a:pPr>
            <a:r>
              <a:rPr dirty="0"/>
              <a:t>DEMO ROADMAP</a:t>
            </a:r>
          </a:p>
        </p:txBody>
      </p:sp>
      <p:sp>
        <p:nvSpPr>
          <p:cNvPr id="4" name="TextBox 3"/>
          <p:cNvSpPr txBox="1"/>
          <p:nvPr/>
        </p:nvSpPr>
        <p:spPr>
          <a:xfrm>
            <a:off x="731520" y="897225"/>
            <a:ext cx="10698480" cy="400110"/>
          </a:xfrm>
          <a:prstGeom prst="rect">
            <a:avLst/>
          </a:prstGeom>
          <a:noFill/>
        </p:spPr>
        <p:txBody>
          <a:bodyPr wrap="square" lIns="0" tIns="0" rIns="0" bIns="0" anchor="ctr">
            <a:spAutoFit/>
          </a:bodyPr>
          <a:lstStyle/>
          <a:p>
            <a:pPr>
              <a:defRPr sz="2600" b="1">
                <a:solidFill>
                  <a:srgbClr val="F8FAFC"/>
                </a:solidFill>
              </a:defRPr>
            </a:pPr>
            <a:r>
              <a:rPr dirty="0"/>
              <a:t>Live Project Demonstration &amp; Rubric Verification</a:t>
            </a:r>
          </a:p>
        </p:txBody>
      </p:sp>
      <p:sp>
        <p:nvSpPr>
          <p:cNvPr id="5" name="Rounded Rectangle 4"/>
          <p:cNvSpPr/>
          <p:nvPr/>
        </p:nvSpPr>
        <p:spPr>
          <a:xfrm>
            <a:off x="731520" y="1645920"/>
            <a:ext cx="512064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8BDF8"/>
                </a:solidFill>
              </a:defRPr>
            </a:pPr>
            <a:r>
              <a:t>Rubric Verification Checklist (M1 - M10)</a:t>
            </a:r>
          </a:p>
          <a:p>
            <a:pPr>
              <a:spcAft>
                <a:spcPts val="600"/>
              </a:spcAft>
            </a:pPr>
            <a:r>
              <a:rPr sz="1300" b="1">
                <a:solidFill>
                  <a:srgbClr val="F8FAFC"/>
                </a:solidFill>
              </a:rPr>
              <a:t>• M1 - M4: App, Tests, Docker: </a:t>
            </a:r>
            <a:r>
              <a:rPr sz="1200" b="0">
                <a:solidFill>
                  <a:srgbClr val="94A3B8"/>
                </a:solidFill>
              </a:rPr>
              <a:t>FastAPI + React UI running locally via docker compose; 10 Pytest tests passing; multi-stage non-root containers.</a:t>
            </a:r>
          </a:p>
          <a:p>
            <a:pPr>
              <a:spcAft>
                <a:spcPts val="600"/>
              </a:spcAft>
            </a:pPr>
            <a:r>
              <a:rPr sz="1300" b="1">
                <a:solidFill>
                  <a:srgbClr val="F8FAFC"/>
                </a:solidFill>
              </a:rPr>
              <a:t>• M5 - M6: CI/CD &amp; DevSecOps: </a:t>
            </a:r>
            <a:r>
              <a:rPr sz="1200" b="0">
                <a:solidFill>
                  <a:srgbClr val="94A3B8"/>
                </a:solidFill>
              </a:rPr>
              <a:t>GitHub Actions pipeline green; Trivy scan gate passed with 0 HIGH/CRITICAL CVEs; GHCR published.</a:t>
            </a:r>
          </a:p>
          <a:p>
            <a:pPr>
              <a:spcAft>
                <a:spcPts val="600"/>
              </a:spcAft>
            </a:pPr>
            <a:r>
              <a:rPr sz="1300" b="1">
                <a:solidFill>
                  <a:srgbClr val="F8FAFC"/>
                </a:solidFill>
              </a:rPr>
              <a:t>• M7: AWS Terraform IaC: </a:t>
            </a:r>
            <a:r>
              <a:rPr sz="1200" b="0">
                <a:solidFill>
                  <a:srgbClr val="94A3B8"/>
                </a:solidFill>
              </a:rPr>
              <a:t>VPC (10.20.0.0/16) and EKS v1.31 planned and provisioned in ap-south-1.</a:t>
            </a:r>
          </a:p>
          <a:p>
            <a:pPr>
              <a:spcAft>
                <a:spcPts val="600"/>
              </a:spcAft>
            </a:pPr>
            <a:r>
              <a:rPr sz="1300" b="1">
                <a:solidFill>
                  <a:srgbClr val="F8FAFC"/>
                </a:solidFill>
              </a:rPr>
              <a:t>• M8: Kubernetes &amp; Helm: </a:t>
            </a:r>
            <a:r>
              <a:rPr sz="1200" b="0">
                <a:solidFill>
                  <a:srgbClr val="94A3B8"/>
                </a:solidFill>
              </a:rPr>
              <a:t>Deployments running 2 replicas each, Ingress routing healthy, Helm chart linted.</a:t>
            </a:r>
          </a:p>
          <a:p>
            <a:pPr>
              <a:spcAft>
                <a:spcPts val="600"/>
              </a:spcAft>
            </a:pPr>
            <a:r>
              <a:rPr sz="1300" b="1">
                <a:solidFill>
                  <a:srgbClr val="F8FAFC"/>
                </a:solidFill>
              </a:rPr>
              <a:t>• M9: Observability: </a:t>
            </a:r>
            <a:r>
              <a:rPr sz="1200" b="0">
                <a:solidFill>
                  <a:srgbClr val="94A3B8"/>
                </a:solidFill>
              </a:rPr>
              <a:t>Prometheus targets UP; live Grafana dashboard graphing RPS, latency, and errors.</a:t>
            </a:r>
          </a:p>
          <a:p>
            <a:pPr>
              <a:spcAft>
                <a:spcPts val="600"/>
              </a:spcAft>
            </a:pPr>
            <a:r>
              <a:rPr sz="1300" b="1">
                <a:solidFill>
                  <a:srgbClr val="F8FAFC"/>
                </a:solidFill>
              </a:rPr>
              <a:t>• M10: Documentation &amp; Video: </a:t>
            </a:r>
            <a:r>
              <a:rPr sz="1200" b="0">
                <a:solidFill>
                  <a:srgbClr val="94A3B8"/>
                </a:solidFill>
              </a:rPr>
              <a:t>Complete README.md, PPT slides, and walkthrough video committed to demo/.</a:t>
            </a:r>
          </a:p>
        </p:txBody>
      </p:sp>
      <p:sp>
        <p:nvSpPr>
          <p:cNvPr id="6" name="Rectangle 5"/>
          <p:cNvSpPr/>
          <p:nvPr/>
        </p:nvSpPr>
        <p:spPr>
          <a:xfrm>
            <a:off x="731520" y="1645920"/>
            <a:ext cx="512064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645920"/>
            <a:ext cx="5212080" cy="457200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34D399"/>
                </a:solidFill>
              </a:defRPr>
            </a:pPr>
            <a:r>
              <a:t>Live Walkthrough Agenda</a:t>
            </a:r>
          </a:p>
          <a:p>
            <a:pPr>
              <a:spcAft>
                <a:spcPts val="600"/>
              </a:spcAft>
            </a:pPr>
            <a:r>
              <a:rPr sz="1300" b="1">
                <a:solidFill>
                  <a:srgbClr val="F8FAFC"/>
                </a:solidFill>
              </a:rPr>
              <a:t>• Step 1: Codebase Tour: </a:t>
            </a:r>
            <a:r>
              <a:rPr sz="1200" b="0">
                <a:solidFill>
                  <a:srgbClr val="94A3B8"/>
                </a:solidFill>
              </a:rPr>
              <a:t>Folder layout, models, schemas, Dockerfiles, Helm templates &amp; Terraform files.</a:t>
            </a:r>
          </a:p>
          <a:p>
            <a:pPr>
              <a:spcAft>
                <a:spcPts val="600"/>
              </a:spcAft>
            </a:pPr>
            <a:r>
              <a:rPr sz="1300" b="1">
                <a:solidFill>
                  <a:srgbClr val="F8FAFC"/>
                </a:solidFill>
              </a:rPr>
              <a:t>• Step 2: CI/CD Live Run: </a:t>
            </a:r>
            <a:r>
              <a:rPr sz="1200" b="0">
                <a:solidFill>
                  <a:srgbClr val="94A3B8"/>
                </a:solidFill>
              </a:rPr>
              <a:t>Trigger Git push, watch GitHub Actions execute Pytest, Trivy scan, and GitOps commit.</a:t>
            </a:r>
          </a:p>
          <a:p>
            <a:pPr>
              <a:spcAft>
                <a:spcPts val="600"/>
              </a:spcAft>
            </a:pPr>
            <a:r>
              <a:rPr sz="1300" b="1">
                <a:solidFill>
                  <a:srgbClr val="F8FAFC"/>
                </a:solidFill>
              </a:rPr>
              <a:t>• Step 3: Terraform &amp; AWS: </a:t>
            </a:r>
            <a:r>
              <a:rPr sz="1200" b="0">
                <a:solidFill>
                  <a:srgbClr val="94A3B8"/>
                </a:solidFill>
              </a:rPr>
              <a:t>Review terraform plan outputs and AWS Console proof of VPC and EKS.</a:t>
            </a:r>
          </a:p>
          <a:p>
            <a:pPr>
              <a:spcAft>
                <a:spcPts val="600"/>
              </a:spcAft>
            </a:pPr>
            <a:r>
              <a:rPr sz="1300" b="1">
                <a:solidFill>
                  <a:srgbClr val="F8FAFC"/>
                </a:solidFill>
              </a:rPr>
              <a:t>• Step 4: ArgoCD GitOps Flow: </a:t>
            </a:r>
            <a:r>
              <a:rPr sz="1200" b="0">
                <a:solidFill>
                  <a:srgbClr val="94A3B8"/>
                </a:solidFill>
              </a:rPr>
              <a:t>Inspect ArgoCD web UI, application health status, and automated synchronization.</a:t>
            </a:r>
          </a:p>
          <a:p>
            <a:pPr>
              <a:spcAft>
                <a:spcPts val="600"/>
              </a:spcAft>
            </a:pPr>
            <a:r>
              <a:rPr sz="1300" b="1">
                <a:solidFill>
                  <a:srgbClr val="F8FAFC"/>
                </a:solidFill>
              </a:rPr>
              <a:t>• Step 5: Kubernetes Cluster Health: </a:t>
            </a:r>
            <a:r>
              <a:rPr sz="1200" b="0">
                <a:solidFill>
                  <a:srgbClr val="94A3B8"/>
                </a:solidFill>
              </a:rPr>
              <a:t>Run kubectl get pods, svc, ingress demonstrating 100% healthy state.</a:t>
            </a:r>
          </a:p>
          <a:p>
            <a:pPr>
              <a:spcAft>
                <a:spcPts val="600"/>
              </a:spcAft>
            </a:pPr>
            <a:r>
              <a:rPr sz="1300" b="1">
                <a:solidFill>
                  <a:srgbClr val="F8FAFC"/>
                </a:solidFill>
              </a:rPr>
              <a:t>• Step 6: Observability in Action: </a:t>
            </a:r>
            <a:r>
              <a:rPr sz="1200" b="0">
                <a:solidFill>
                  <a:srgbClr val="94A3B8"/>
                </a:solidFill>
              </a:rPr>
              <a:t>Prometheus Targets page and live traffic generation on Grafana dashboard.</a:t>
            </a:r>
          </a:p>
        </p:txBody>
      </p:sp>
      <p:sp>
        <p:nvSpPr>
          <p:cNvPr id="8" name="Rectangle 7"/>
          <p:cNvSpPr/>
          <p:nvPr/>
        </p:nvSpPr>
        <p:spPr>
          <a:xfrm>
            <a:off x="6217920" y="1645920"/>
            <a:ext cx="52120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3547</Words>
  <Application>Microsoft Office PowerPoint</Application>
  <PresentationFormat>Widescreen</PresentationFormat>
  <Paragraphs>193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Sourabh Srivastva</cp:lastModifiedBy>
  <cp:revision>7</cp:revision>
  <dcterms:created xsi:type="dcterms:W3CDTF">2013-01-27T09:14:16Z</dcterms:created>
  <dcterms:modified xsi:type="dcterms:W3CDTF">2026-10-26T12:53:14Z</dcterms:modified>
  <cp:category/>
</cp:coreProperties>
</file>